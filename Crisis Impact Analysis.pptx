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2" r:id="rId6"/>
    <p:sldId id="261"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51044" autoAdjust="0"/>
  </p:normalViewPr>
  <p:slideViewPr>
    <p:cSldViewPr snapToGrid="0">
      <p:cViewPr varScale="1">
        <p:scale>
          <a:sx n="42" d="100"/>
          <a:sy n="42" d="100"/>
        </p:scale>
        <p:origin x="2256"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EB76DD-D40B-44AC-B207-CD311CEA9D94}" type="datetimeFigureOut">
              <a:rPr lang="en-IN" smtClean="0"/>
              <a:t>18-11-2025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BB0FB2-4AC7-4BEC-A36C-95D56662C058}" type="slidenum">
              <a:rPr lang="en-IN" smtClean="0"/>
              <a:t>‹#›</a:t>
            </a:fld>
            <a:endParaRPr lang="en-IN"/>
          </a:p>
        </p:txBody>
      </p:sp>
    </p:spTree>
    <p:extLst>
      <p:ext uri="{BB962C8B-B14F-4D97-AF65-F5344CB8AC3E}">
        <p14:creationId xmlns:p14="http://schemas.microsoft.com/office/powerpoint/2010/main" val="1449288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Poojitha and Today</a:t>
            </a:r>
            <a:br>
              <a:rPr lang="en-US" dirty="0"/>
            </a:br>
            <a:endParaRPr lang="en-US" dirty="0"/>
          </a:p>
          <a:p>
            <a:r>
              <a:rPr lang="en-US" dirty="0"/>
              <a:t>I’ll be diving into a </a:t>
            </a:r>
            <a:r>
              <a:rPr lang="en-US" b="1" dirty="0"/>
              <a:t>deep strategic analysis</a:t>
            </a:r>
            <a:r>
              <a:rPr lang="en-US" dirty="0"/>
              <a:t> of </a:t>
            </a:r>
            <a:r>
              <a:rPr lang="en-US" b="1" dirty="0" err="1"/>
              <a:t>QuickBite</a:t>
            </a:r>
            <a:r>
              <a:rPr lang="en-US" b="1" dirty="0"/>
              <a:t> Express</a:t>
            </a:r>
            <a:r>
              <a:rPr lang="en-US" dirty="0"/>
              <a:t> — a fast-growing Bengaluru-based food-tech startup — and how it navigated one of the biggest crises in its journey.</a:t>
            </a:r>
          </a:p>
          <a:p>
            <a:endParaRPr lang="en-US" dirty="0"/>
          </a:p>
          <a:p>
            <a:r>
              <a:rPr lang="en-US" dirty="0" err="1"/>
              <a:t>QuickBite</a:t>
            </a:r>
            <a:r>
              <a:rPr lang="en-US" dirty="0"/>
              <a:t> Express, founded in 2020, connects customers to nearby restaurants and cloud kitchens through a fast and seamless delivery experience. But in </a:t>
            </a:r>
            <a:r>
              <a:rPr lang="en-US" b="1" dirty="0"/>
              <a:t>June 2025</a:t>
            </a:r>
            <a:r>
              <a:rPr lang="en-US" dirty="0"/>
              <a:t>, the company faced a major setback.</a:t>
            </a:r>
          </a:p>
          <a:p>
            <a:endParaRPr lang="en-US" dirty="0"/>
          </a:p>
          <a:p>
            <a:r>
              <a:rPr lang="en-US" dirty="0"/>
              <a:t>In this session, I’ll walk you through </a:t>
            </a:r>
            <a:r>
              <a:rPr lang="en-US" b="1" dirty="0"/>
              <a:t>key findings, customer behavior insights, delivery performance trends, and strategic recommendations</a:t>
            </a:r>
            <a:r>
              <a:rPr lang="en-US" dirty="0"/>
              <a:t> that can help the platform build a </a:t>
            </a:r>
            <a:r>
              <a:rPr lang="en-US" b="1" dirty="0"/>
              <a:t>high-retention, high-efficiency food delivery ecosystem.</a:t>
            </a:r>
            <a:endParaRPr lang="en-US" dirty="0"/>
          </a:p>
          <a:p>
            <a:r>
              <a:rPr lang="en-US" dirty="0"/>
              <a:t>This analysis is part of the </a:t>
            </a:r>
            <a:r>
              <a:rPr lang="en-US" b="1" dirty="0" err="1"/>
              <a:t>Codebasics</a:t>
            </a:r>
            <a:r>
              <a:rPr lang="en-US" b="1" dirty="0"/>
              <a:t> Resume Project Challenge</a:t>
            </a:r>
            <a:r>
              <a:rPr lang="en-US" dirty="0"/>
              <a:t>, where we use real-world datasets to extract insights and solve meaningful business problems through data storytelling.</a:t>
            </a:r>
          </a:p>
          <a:p>
            <a:endParaRPr lang="en-US" dirty="0"/>
          </a:p>
        </p:txBody>
      </p:sp>
      <p:sp>
        <p:nvSpPr>
          <p:cNvPr id="4" name="Slide Number Placeholder 3"/>
          <p:cNvSpPr>
            <a:spLocks noGrp="1"/>
          </p:cNvSpPr>
          <p:nvPr>
            <p:ph type="sldNum" sz="quarter" idx="5"/>
          </p:nvPr>
        </p:nvSpPr>
        <p:spPr/>
        <p:txBody>
          <a:bodyPr/>
          <a:lstStyle/>
          <a:p>
            <a:fld id="{43BB0FB2-4AC7-4BEC-A36C-95D56662C058}" type="slidenum">
              <a:rPr lang="en-IN" smtClean="0"/>
              <a:t>1</a:t>
            </a:fld>
            <a:endParaRPr lang="en-IN"/>
          </a:p>
        </p:txBody>
      </p:sp>
    </p:spTree>
    <p:extLst>
      <p:ext uri="{BB962C8B-B14F-4D97-AF65-F5344CB8AC3E}">
        <p14:creationId xmlns:p14="http://schemas.microsoft.com/office/powerpoint/2010/main" val="1874602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QuickBite</a:t>
            </a:r>
            <a:r>
              <a:rPr lang="en-US" dirty="0"/>
              <a:t> Express, founded in 2020, connects customers to nearby restaurants and cloud kitchens through a fast and seamless delivery experience. But in </a:t>
            </a:r>
            <a:r>
              <a:rPr lang="en-US" b="1" dirty="0"/>
              <a:t>June 2025</a:t>
            </a:r>
            <a:r>
              <a:rPr lang="en-US" dirty="0"/>
              <a:t>, the company faced a major setback.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b="1" dirty="0"/>
              <a:t>viral social media incident</a:t>
            </a:r>
            <a:r>
              <a:rPr lang="en-US" dirty="0"/>
              <a:t> exposing food safety violations at partner restaurants, combined with a </a:t>
            </a:r>
            <a:r>
              <a:rPr lang="en-US" b="1" dirty="0"/>
              <a:t>week-long delivery outage during the monsoon season</a:t>
            </a:r>
            <a:r>
              <a:rPr lang="en-US" dirty="0"/>
              <a:t>, triggered massive customer backlash. Competitors quickly took advantage with aggressive marketing campaigns, accelerating customer churn and weakening brand trust.</a:t>
            </a:r>
          </a:p>
          <a:p>
            <a:endParaRPr lang="en-IN" dirty="0"/>
          </a:p>
        </p:txBody>
      </p:sp>
      <p:sp>
        <p:nvSpPr>
          <p:cNvPr id="4" name="Slide Number Placeholder 3"/>
          <p:cNvSpPr>
            <a:spLocks noGrp="1"/>
          </p:cNvSpPr>
          <p:nvPr>
            <p:ph type="sldNum" sz="quarter" idx="5"/>
          </p:nvPr>
        </p:nvSpPr>
        <p:spPr/>
        <p:txBody>
          <a:bodyPr/>
          <a:lstStyle/>
          <a:p>
            <a:fld id="{43BB0FB2-4AC7-4BEC-A36C-95D56662C058}" type="slidenum">
              <a:rPr lang="en-IN" smtClean="0"/>
              <a:t>2</a:t>
            </a:fld>
            <a:endParaRPr lang="en-IN"/>
          </a:p>
        </p:txBody>
      </p:sp>
    </p:spTree>
    <p:extLst>
      <p:ext uri="{BB962C8B-B14F-4D97-AF65-F5344CB8AC3E}">
        <p14:creationId xmlns:p14="http://schemas.microsoft.com/office/powerpoint/2010/main" val="333545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5E0AC-A6C5-2214-3103-6DF5BA5FF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6B2FD-51FC-02A1-D238-937DE75D4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3B2C25-017B-0F72-1C79-C41B34B39AAE}"/>
              </a:ext>
            </a:extLst>
          </p:cNvPr>
          <p:cNvSpPr>
            <a:spLocks noGrp="1"/>
          </p:cNvSpPr>
          <p:nvPr>
            <p:ph type="body" idx="1"/>
          </p:nvPr>
        </p:nvSpPr>
        <p:spPr/>
        <p:txBody>
          <a:bodyPr/>
          <a:lstStyle/>
          <a:p>
            <a:r>
              <a:rPr lang="en-US" dirty="0"/>
              <a:t>For this study, I used a clean star-schema data model along with multiple datasets covering </a:t>
            </a:r>
            <a:r>
              <a:rPr lang="en-US" b="1" dirty="0"/>
              <a:t>orders, customers, delivery partners, ratings, and restaurant performance</a:t>
            </a:r>
            <a:r>
              <a:rPr lang="en-US" dirty="0"/>
              <a:t>.</a:t>
            </a:r>
          </a:p>
          <a:p>
            <a:r>
              <a:rPr lang="en-US" dirty="0"/>
              <a:t>These insights help uncover key patterns in </a:t>
            </a:r>
            <a:r>
              <a:rPr lang="en-US" b="1" dirty="0"/>
              <a:t>customer </a:t>
            </a:r>
            <a:r>
              <a:rPr lang="en-US" b="1" dirty="0" err="1"/>
              <a:t>behaviour</a:t>
            </a:r>
            <a:r>
              <a:rPr lang="en-US" b="1" dirty="0"/>
              <a:t>, operational efficiency, delivery performance, and partner contribution</a:t>
            </a:r>
            <a:r>
              <a:rPr lang="en-US" dirty="0"/>
              <a:t>.</a:t>
            </a:r>
          </a:p>
        </p:txBody>
      </p:sp>
      <p:sp>
        <p:nvSpPr>
          <p:cNvPr id="4" name="Slide Number Placeholder 3">
            <a:extLst>
              <a:ext uri="{FF2B5EF4-FFF2-40B4-BE49-F238E27FC236}">
                <a16:creationId xmlns:a16="http://schemas.microsoft.com/office/drawing/2014/main" id="{9A416A76-1D8A-527D-8CCE-212487D81AC5}"/>
              </a:ext>
            </a:extLst>
          </p:cNvPr>
          <p:cNvSpPr>
            <a:spLocks noGrp="1"/>
          </p:cNvSpPr>
          <p:nvPr>
            <p:ph type="sldNum" sz="quarter" idx="5"/>
          </p:nvPr>
        </p:nvSpPr>
        <p:spPr/>
        <p:txBody>
          <a:bodyPr/>
          <a:lstStyle/>
          <a:p>
            <a:fld id="{43BB0FB2-4AC7-4BEC-A36C-95D56662C058}" type="slidenum">
              <a:rPr lang="en-IN" smtClean="0"/>
              <a:t>3</a:t>
            </a:fld>
            <a:endParaRPr lang="en-IN"/>
          </a:p>
        </p:txBody>
      </p:sp>
    </p:spTree>
    <p:extLst>
      <p:ext uri="{BB962C8B-B14F-4D97-AF65-F5344CB8AC3E}">
        <p14:creationId xmlns:p14="http://schemas.microsoft.com/office/powerpoint/2010/main" val="813316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65663-8988-4C46-1223-F33FFF174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163A03-8C5D-4B15-FC96-254D34ACB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6BF3D-8904-92E6-AEFB-40F771B63963}"/>
              </a:ext>
            </a:extLst>
          </p:cNvPr>
          <p:cNvSpPr>
            <a:spLocks noGrp="1"/>
          </p:cNvSpPr>
          <p:nvPr>
            <p:ph type="body" idx="1"/>
          </p:nvPr>
        </p:nvSpPr>
        <p:spPr/>
        <p:txBody>
          <a:bodyPr/>
          <a:lstStyle/>
          <a:p>
            <a:r>
              <a:rPr lang="en-US" dirty="0"/>
              <a:t>To bring these insights to life, I developed an interactive dashboard that visualizes all the key performance metrics of a food-delivery business.</a:t>
            </a:r>
          </a:p>
          <a:p>
            <a:endParaRPr lang="en-US" dirty="0"/>
          </a:p>
          <a:p>
            <a:r>
              <a:rPr lang="en-US" dirty="0"/>
              <a:t>The dashboard highlights trends in </a:t>
            </a:r>
            <a:r>
              <a:rPr lang="en-US" b="1" dirty="0"/>
              <a:t>monthly orders, customer retention, delivery partner performance, restaurant contribution, ratings, and overall operational efficiency</a:t>
            </a:r>
            <a:r>
              <a:rPr lang="en-US" dirty="0"/>
              <a:t>.</a:t>
            </a:r>
          </a:p>
          <a:p>
            <a:endParaRPr lang="en-US" dirty="0"/>
          </a:p>
          <a:p>
            <a:r>
              <a:rPr lang="en-US" dirty="0"/>
              <a:t>Feel free to explore it and share any suggestions for improvement!</a:t>
            </a:r>
          </a:p>
          <a:p>
            <a:endParaRPr lang="en-US" dirty="0"/>
          </a:p>
        </p:txBody>
      </p:sp>
      <p:sp>
        <p:nvSpPr>
          <p:cNvPr id="4" name="Slide Number Placeholder 3">
            <a:extLst>
              <a:ext uri="{FF2B5EF4-FFF2-40B4-BE49-F238E27FC236}">
                <a16:creationId xmlns:a16="http://schemas.microsoft.com/office/drawing/2014/main" id="{CAAFFF5B-347E-D2AD-FA10-7C7AC7CADD71}"/>
              </a:ext>
            </a:extLst>
          </p:cNvPr>
          <p:cNvSpPr>
            <a:spLocks noGrp="1"/>
          </p:cNvSpPr>
          <p:nvPr>
            <p:ph type="sldNum" sz="quarter" idx="5"/>
          </p:nvPr>
        </p:nvSpPr>
        <p:spPr/>
        <p:txBody>
          <a:bodyPr/>
          <a:lstStyle/>
          <a:p>
            <a:fld id="{43BB0FB2-4AC7-4BEC-A36C-95D56662C058}" type="slidenum">
              <a:rPr lang="en-IN" smtClean="0"/>
              <a:t>4</a:t>
            </a:fld>
            <a:endParaRPr lang="en-IN"/>
          </a:p>
        </p:txBody>
      </p:sp>
    </p:spTree>
    <p:extLst>
      <p:ext uri="{BB962C8B-B14F-4D97-AF65-F5344CB8AC3E}">
        <p14:creationId xmlns:p14="http://schemas.microsoft.com/office/powerpoint/2010/main" val="3746415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9058-D10D-2142-E412-FBE1D04B6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9E9FD-4B5B-ED89-708F-4870E90302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4F7E54-4CDC-1EF7-7D4D-0F50B0B7C1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begin by outlining the key research questions that shaped our analysis.</a:t>
            </a:r>
            <a:endParaRPr lang="en-IN" dirty="0"/>
          </a:p>
        </p:txBody>
      </p:sp>
      <p:sp>
        <p:nvSpPr>
          <p:cNvPr id="4" name="Slide Number Placeholder 3">
            <a:extLst>
              <a:ext uri="{FF2B5EF4-FFF2-40B4-BE49-F238E27FC236}">
                <a16:creationId xmlns:a16="http://schemas.microsoft.com/office/drawing/2014/main" id="{431DBFB6-715D-E521-FDB3-1B6F726B64DB}"/>
              </a:ext>
            </a:extLst>
          </p:cNvPr>
          <p:cNvSpPr>
            <a:spLocks noGrp="1"/>
          </p:cNvSpPr>
          <p:nvPr>
            <p:ph type="sldNum" sz="quarter" idx="5"/>
          </p:nvPr>
        </p:nvSpPr>
        <p:spPr/>
        <p:txBody>
          <a:bodyPr/>
          <a:lstStyle/>
          <a:p>
            <a:fld id="{43BB0FB2-4AC7-4BEC-A36C-95D56662C058}" type="slidenum">
              <a:rPr lang="en-IN" smtClean="0"/>
              <a:t>5</a:t>
            </a:fld>
            <a:endParaRPr lang="en-IN"/>
          </a:p>
        </p:txBody>
      </p:sp>
    </p:spTree>
    <p:extLst>
      <p:ext uri="{BB962C8B-B14F-4D97-AF65-F5344CB8AC3E}">
        <p14:creationId xmlns:p14="http://schemas.microsoft.com/office/powerpoint/2010/main" val="2976127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F9031-DB43-1DF1-D071-ACECCE729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1A73A-2FC7-2D29-ECD6-47DD5D68F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B991FA-CA17-E48E-F3C1-ED24A4186982}"/>
              </a:ext>
            </a:extLst>
          </p:cNvPr>
          <p:cNvSpPr>
            <a:spLocks noGrp="1"/>
          </p:cNvSpPr>
          <p:nvPr>
            <p:ph type="body" idx="1"/>
          </p:nvPr>
        </p:nvSpPr>
        <p:spPr/>
        <p:txBody>
          <a:bodyPr/>
          <a:lstStyle/>
          <a:p>
            <a:r>
              <a:rPr lang="en-US" dirty="0"/>
              <a:t>Before the crisis hit, </a:t>
            </a:r>
            <a:r>
              <a:rPr lang="en-US" dirty="0" err="1"/>
              <a:t>QuickBite</a:t>
            </a:r>
            <a:r>
              <a:rPr lang="en-US" dirty="0"/>
              <a:t> was performing strongly.</a:t>
            </a:r>
          </a:p>
          <a:p>
            <a:br>
              <a:rPr lang="en-US" dirty="0"/>
            </a:br>
            <a:r>
              <a:rPr lang="en-US" dirty="0"/>
              <a:t>-- Between </a:t>
            </a:r>
            <a:r>
              <a:rPr lang="en-US" b="1" dirty="0"/>
              <a:t>January and May 2025</a:t>
            </a:r>
            <a:r>
              <a:rPr lang="en-US" dirty="0"/>
              <a:t>, the platform recorded a solid </a:t>
            </a:r>
            <a:r>
              <a:rPr lang="en-US" b="1" dirty="0"/>
              <a:t>114K orders</a:t>
            </a:r>
            <a:r>
              <a:rPr lang="en-US" dirty="0"/>
              <a:t>, with monthly volumes staying healthy—</a:t>
            </a:r>
            <a:r>
              <a:rPr lang="en-US" b="1" dirty="0"/>
              <a:t>24K in January</a:t>
            </a:r>
            <a:r>
              <a:rPr lang="en-US" dirty="0"/>
              <a:t>, </a:t>
            </a:r>
            <a:r>
              <a:rPr lang="en-US" b="1" dirty="0"/>
              <a:t>21K in February</a:t>
            </a:r>
            <a:r>
              <a:rPr lang="en-US" dirty="0"/>
              <a:t>, and consistently high through May.</a:t>
            </a:r>
          </a:p>
          <a:p>
            <a:r>
              <a:rPr lang="en-US" dirty="0"/>
              <a:t>But once the crisis began in June, everything changed.</a:t>
            </a:r>
          </a:p>
          <a:p>
            <a:endParaRPr lang="en-US" dirty="0"/>
          </a:p>
          <a:p>
            <a:r>
              <a:rPr lang="en-US" dirty="0"/>
              <a:t>From </a:t>
            </a:r>
            <a:r>
              <a:rPr lang="en-US" b="1" dirty="0"/>
              <a:t>June to September 2025</a:t>
            </a:r>
            <a:r>
              <a:rPr lang="en-US" dirty="0"/>
              <a:t>, total orders dropped to just </a:t>
            </a:r>
            <a:r>
              <a:rPr lang="en-US" b="1" dirty="0"/>
              <a:t>35K</a:t>
            </a:r>
            <a:r>
              <a:rPr lang="en-US" dirty="0"/>
              <a:t>—a massive </a:t>
            </a:r>
            <a:r>
              <a:rPr lang="en-US" b="1" dirty="0"/>
              <a:t>69% decline</a:t>
            </a:r>
            <a:r>
              <a:rPr lang="en-US" dirty="0"/>
              <a:t> compared to the pre-crisis period.</a:t>
            </a:r>
          </a:p>
          <a:p>
            <a:endParaRPr lang="en-US" dirty="0"/>
          </a:p>
          <a:p>
            <a:pPr marL="0" indent="0">
              <a:buFont typeface="Wingdings" panose="05000000000000000000" pitchFamily="2" charset="2"/>
              <a:buNone/>
            </a:pPr>
            <a:r>
              <a:rPr lang="en-US" dirty="0"/>
              <a:t>-- To put it in perspective:</a:t>
            </a:r>
            <a:br>
              <a:rPr lang="en-US" dirty="0"/>
            </a:br>
            <a:r>
              <a:rPr lang="en-US" dirty="0"/>
              <a:t> </a:t>
            </a:r>
            <a:r>
              <a:rPr lang="en-US" b="1" dirty="0"/>
              <a:t>June saw only ~9K orders</a:t>
            </a:r>
            <a:r>
              <a:rPr lang="en-US" dirty="0"/>
              <a:t>,</a:t>
            </a:r>
            <a:br>
              <a:rPr lang="en-US" dirty="0"/>
            </a:br>
            <a:r>
              <a:rPr lang="en-US" dirty="0"/>
              <a:t> and by </a:t>
            </a:r>
            <a:r>
              <a:rPr lang="en-US" b="1" dirty="0"/>
              <a:t>September</a:t>
            </a:r>
            <a:r>
              <a:rPr lang="en-US" dirty="0"/>
              <a:t>, the number fell to </a:t>
            </a:r>
            <a:r>
              <a:rPr lang="en-US" b="1" dirty="0"/>
              <a:t>just 8K</a:t>
            </a:r>
            <a:r>
              <a:rPr lang="en-US" dirty="0"/>
              <a:t>, one of the lowest monthly volumes of the year.</a:t>
            </a:r>
          </a:p>
          <a:p>
            <a:pPr marL="0" indent="0">
              <a:buFont typeface="Wingdings" panose="05000000000000000000" pitchFamily="2" charset="2"/>
              <a:buNone/>
            </a:pPr>
            <a:endParaRPr lang="en-US" dirty="0"/>
          </a:p>
          <a:p>
            <a:r>
              <a:rPr lang="en-US" dirty="0"/>
              <a:t>This steep drop reveals how sharply customer trust and platform usage collapsed during the crisis, marking one of the most challenging phases in </a:t>
            </a:r>
            <a:r>
              <a:rPr lang="en-US" dirty="0" err="1"/>
              <a:t>QuickBite’s</a:t>
            </a:r>
            <a:r>
              <a:rPr lang="en-US" dirty="0"/>
              <a:t> growth journey.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a:extLst>
              <a:ext uri="{FF2B5EF4-FFF2-40B4-BE49-F238E27FC236}">
                <a16:creationId xmlns:a16="http://schemas.microsoft.com/office/drawing/2014/main" id="{408AC60D-501F-FAA3-0B6A-6C0E2BEE9844}"/>
              </a:ext>
            </a:extLst>
          </p:cNvPr>
          <p:cNvSpPr>
            <a:spLocks noGrp="1"/>
          </p:cNvSpPr>
          <p:nvPr>
            <p:ph type="sldNum" sz="quarter" idx="5"/>
          </p:nvPr>
        </p:nvSpPr>
        <p:spPr/>
        <p:txBody>
          <a:bodyPr/>
          <a:lstStyle/>
          <a:p>
            <a:fld id="{43BB0FB2-4AC7-4BEC-A36C-95D56662C058}" type="slidenum">
              <a:rPr lang="en-IN" smtClean="0"/>
              <a:t>6</a:t>
            </a:fld>
            <a:endParaRPr lang="en-IN"/>
          </a:p>
        </p:txBody>
      </p:sp>
    </p:spTree>
    <p:extLst>
      <p:ext uri="{BB962C8B-B14F-4D97-AF65-F5344CB8AC3E}">
        <p14:creationId xmlns:p14="http://schemas.microsoft.com/office/powerpoint/2010/main" val="3345235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D9EC4-82D2-AFBB-7F69-C23888EFB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B0622C-AB46-C4B9-2454-5EB1FFC905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65A58B-BFAA-02FD-378E-8C0643C5C6E2}"/>
              </a:ext>
            </a:extLst>
          </p:cNvPr>
          <p:cNvSpPr>
            <a:spLocks noGrp="1"/>
          </p:cNvSpPr>
          <p:nvPr>
            <p:ph type="body" idx="1"/>
          </p:nvPr>
        </p:nvSpPr>
        <p:spPr/>
        <p:txBody>
          <a:bodyPr/>
          <a:lstStyle/>
          <a:p>
            <a:r>
              <a:rPr lang="en-US" dirty="0"/>
              <a:t>Among all city groups, two major metros were hit hardest:</a:t>
            </a:r>
          </a:p>
          <a:p>
            <a:endParaRPr lang="en-US" dirty="0"/>
          </a:p>
          <a:p>
            <a:pPr marL="228600" indent="-228600">
              <a:buAutoNum type="arabicPeriod"/>
            </a:pPr>
            <a:r>
              <a:rPr lang="en-US" b="1" dirty="0"/>
              <a:t>Bengaluru — Highest Drop in Order Volume</a:t>
            </a:r>
          </a:p>
          <a:p>
            <a:pPr marL="0" indent="0">
              <a:buNone/>
            </a:pPr>
            <a:endParaRPr lang="en-US" b="1" dirty="0"/>
          </a:p>
          <a:p>
            <a:r>
              <a:rPr lang="en-US" dirty="0"/>
              <a:t>Bengaluru saw a </a:t>
            </a:r>
            <a:r>
              <a:rPr lang="en-US" b="1" dirty="0"/>
              <a:t>sharp decline of 22K orders</a:t>
            </a:r>
            <a:r>
              <a:rPr lang="en-US" dirty="0"/>
              <a:t>, dropping by </a:t>
            </a:r>
            <a:r>
              <a:rPr lang="en-US" b="1" dirty="0"/>
              <a:t>70.23%</a:t>
            </a:r>
            <a:r>
              <a:rPr lang="en-US" dirty="0"/>
              <a:t> when comparing pre-crisis to crisis volumes.</a:t>
            </a:r>
            <a:br>
              <a:rPr lang="en-US" dirty="0"/>
            </a:br>
            <a:r>
              <a:rPr lang="en-US" dirty="0"/>
              <a:t>This makes it the </a:t>
            </a:r>
            <a:r>
              <a:rPr lang="en-US" b="1" dirty="0"/>
              <a:t>most affected city</a:t>
            </a:r>
            <a:r>
              <a:rPr lang="en-US" dirty="0"/>
              <a:t>, </a:t>
            </a:r>
            <a:r>
              <a:rPr lang="en-US" dirty="0" err="1"/>
              <a:t>signalling</a:t>
            </a:r>
            <a:r>
              <a:rPr lang="en-US" dirty="0"/>
              <a:t> how strongly the crisis disrupted customer confidence in </a:t>
            </a:r>
            <a:r>
              <a:rPr lang="en-US" dirty="0" err="1"/>
              <a:t>QuickBite’s</a:t>
            </a:r>
            <a:r>
              <a:rPr lang="en-US" dirty="0"/>
              <a:t> largest market.</a:t>
            </a:r>
          </a:p>
          <a:p>
            <a:endParaRPr lang="en-US" dirty="0"/>
          </a:p>
          <a:p>
            <a:r>
              <a:rPr lang="en-US" b="1" dirty="0"/>
              <a:t>2. Mumbai — Second-Highest Decline</a:t>
            </a:r>
          </a:p>
          <a:p>
            <a:endParaRPr lang="en-US" b="1" dirty="0"/>
          </a:p>
          <a:p>
            <a:r>
              <a:rPr lang="en-US" dirty="0"/>
              <a:t>Mumbai recorded a </a:t>
            </a:r>
            <a:r>
              <a:rPr lang="en-US" b="1" dirty="0"/>
              <a:t>13K reduction in orders</a:t>
            </a:r>
            <a:r>
              <a:rPr lang="en-US" dirty="0"/>
              <a:t>, with a </a:t>
            </a:r>
            <a:r>
              <a:rPr lang="en-US" b="1" dirty="0"/>
              <a:t>70.18% decline</a:t>
            </a:r>
            <a:r>
              <a:rPr lang="en-US" dirty="0"/>
              <a:t> overall.</a:t>
            </a:r>
            <a:br>
              <a:rPr lang="en-US" dirty="0"/>
            </a:br>
            <a:r>
              <a:rPr lang="en-US" dirty="0"/>
              <a:t>Even though Mumbai wasn’t hit as severely as Bengaluru, the drop still represents a </a:t>
            </a:r>
            <a:r>
              <a:rPr lang="en-US" b="1" dirty="0"/>
              <a:t>major shift in customer </a:t>
            </a:r>
            <a:r>
              <a:rPr lang="en-US" b="1" dirty="0" err="1"/>
              <a:t>behaviour</a:t>
            </a:r>
            <a:r>
              <a:rPr lang="en-US" dirty="0"/>
              <a:t> during the crisis period.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a:extLst>
              <a:ext uri="{FF2B5EF4-FFF2-40B4-BE49-F238E27FC236}">
                <a16:creationId xmlns:a16="http://schemas.microsoft.com/office/drawing/2014/main" id="{46573E4D-CAFF-BE25-7429-5DDFDCAD7346}"/>
              </a:ext>
            </a:extLst>
          </p:cNvPr>
          <p:cNvSpPr>
            <a:spLocks noGrp="1"/>
          </p:cNvSpPr>
          <p:nvPr>
            <p:ph type="sldNum" sz="quarter" idx="5"/>
          </p:nvPr>
        </p:nvSpPr>
        <p:spPr/>
        <p:txBody>
          <a:bodyPr/>
          <a:lstStyle/>
          <a:p>
            <a:fld id="{43BB0FB2-4AC7-4BEC-A36C-95D56662C058}" type="slidenum">
              <a:rPr lang="en-IN" smtClean="0"/>
              <a:t>7</a:t>
            </a:fld>
            <a:endParaRPr lang="en-IN"/>
          </a:p>
        </p:txBody>
      </p:sp>
    </p:spTree>
    <p:extLst>
      <p:ext uri="{BB962C8B-B14F-4D97-AF65-F5344CB8AC3E}">
        <p14:creationId xmlns:p14="http://schemas.microsoft.com/office/powerpoint/2010/main" val="2018291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8B172-1335-AA2C-F409-E65914CF5F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D23F5-4B7B-3A99-DAD1-5B2A8FA097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E2516-28C1-956F-DB41-EF3D4DADF4A5}"/>
              </a:ext>
            </a:extLst>
          </p:cNvPr>
          <p:cNvSpPr>
            <a:spLocks noGrp="1"/>
          </p:cNvSpPr>
          <p:nvPr>
            <p:ph type="body" idx="1"/>
          </p:nvPr>
        </p:nvSpPr>
        <p:spPr/>
        <p:txBody>
          <a:bodyPr/>
          <a:lstStyle/>
          <a:p>
            <a:r>
              <a:rPr lang="en-US" dirty="0"/>
              <a:t>Among restaurants that had </a:t>
            </a:r>
            <a:r>
              <a:rPr lang="en-US" b="1" dirty="0"/>
              <a:t>at least 50 pre-crisis orders</a:t>
            </a:r>
            <a:r>
              <a:rPr lang="en-US" dirty="0"/>
              <a:t>, the crisis had a severe impact on several previously high-performing outlets.</a:t>
            </a:r>
          </a:p>
          <a:p>
            <a:r>
              <a:rPr lang="en-US" dirty="0"/>
              <a:t>The top restaurants with the </a:t>
            </a:r>
            <a:r>
              <a:rPr lang="en-US" b="1" dirty="0"/>
              <a:t>largest percentage drop in order volume</a:t>
            </a:r>
            <a:r>
              <a:rPr lang="en-US" dirty="0"/>
              <a:t> during the crisis were:</a:t>
            </a:r>
          </a:p>
          <a:p>
            <a:endParaRPr lang="en-US" dirty="0"/>
          </a:p>
          <a:p>
            <a:r>
              <a:rPr lang="en-US" b="1" dirty="0"/>
              <a:t>1. Royal Curry Mahal — 96% Decline</a:t>
            </a:r>
          </a:p>
          <a:p>
            <a:r>
              <a:rPr lang="en-US" dirty="0"/>
              <a:t>This restaurant took the biggest hit, with order volumes almost collapsing.</a:t>
            </a:r>
            <a:br>
              <a:rPr lang="en-US" dirty="0"/>
            </a:br>
            <a:r>
              <a:rPr lang="en-US" dirty="0"/>
              <a:t>A 96% drop indicates </a:t>
            </a:r>
            <a:r>
              <a:rPr lang="en-US" b="1" dirty="0"/>
              <a:t>complete customer disengagement</a:t>
            </a:r>
            <a:r>
              <a:rPr lang="en-US" dirty="0"/>
              <a:t>, likely influenced by food safety concerns or severe delivery delays.</a:t>
            </a:r>
          </a:p>
          <a:p>
            <a:endParaRPr lang="en-US" dirty="0"/>
          </a:p>
          <a:p>
            <a:r>
              <a:rPr lang="en-US" b="1" dirty="0"/>
              <a:t>2. Taste of Cafe Corner — 92% Decline</a:t>
            </a:r>
          </a:p>
          <a:p>
            <a:r>
              <a:rPr lang="en-US" dirty="0"/>
              <a:t>This outlet also saw orders fall drastically.</a:t>
            </a:r>
            <a:br>
              <a:rPr lang="en-US" dirty="0"/>
            </a:br>
            <a:r>
              <a:rPr lang="en-US" dirty="0"/>
              <a:t>A decline above 90% shows that </a:t>
            </a:r>
            <a:r>
              <a:rPr lang="en-US" b="1" dirty="0"/>
              <a:t>even loyal repeat customers avoided the brand during the crisis</a:t>
            </a:r>
            <a:r>
              <a:rPr lang="en-US" dirty="0"/>
              <a:t>.</a:t>
            </a:r>
          </a:p>
          <a:p>
            <a:endParaRPr lang="en-US" dirty="0"/>
          </a:p>
          <a:p>
            <a:r>
              <a:rPr lang="en-US" b="1" dirty="0"/>
              <a:t>3. Fresh Tandoor Delight — 90.74% Decline</a:t>
            </a:r>
          </a:p>
          <a:p>
            <a:r>
              <a:rPr lang="en-US" dirty="0"/>
              <a:t>Despite being a high-volume performer before the crisis, this restaurant experienced a major downturn.</a:t>
            </a:r>
            <a:br>
              <a:rPr lang="en-US" dirty="0"/>
            </a:br>
            <a:r>
              <a:rPr lang="en-US" dirty="0"/>
              <a:t>Such a sharp fall signals </a:t>
            </a:r>
            <a:r>
              <a:rPr lang="en-US" b="1" dirty="0"/>
              <a:t>strong sensitivity to brand reputation and operational disruptions</a:t>
            </a:r>
            <a:r>
              <a:rPr lang="en-US" dirty="0"/>
              <a:t>.</a:t>
            </a:r>
          </a:p>
          <a:p>
            <a:endParaRPr lang="en-US" dirty="0"/>
          </a:p>
          <a:p>
            <a:r>
              <a:rPr lang="en-US" b="1" dirty="0"/>
              <a:t>4. </a:t>
            </a:r>
            <a:r>
              <a:rPr lang="en-US" b="1" dirty="0" err="1"/>
              <a:t>Flavours</a:t>
            </a:r>
            <a:r>
              <a:rPr lang="en-US" b="1" dirty="0"/>
              <a:t> of Curry Cafe — 90.57% Decline</a:t>
            </a:r>
          </a:p>
          <a:p>
            <a:r>
              <a:rPr lang="en-US" dirty="0"/>
              <a:t>Another top-volume restaurant where demand dropped sharply.</a:t>
            </a:r>
            <a:br>
              <a:rPr lang="en-US" dirty="0"/>
            </a:br>
            <a:r>
              <a:rPr lang="en-US" dirty="0"/>
              <a:t>The consistent pattern across these restaurants suggests that </a:t>
            </a:r>
            <a:r>
              <a:rPr lang="en-US" b="1" dirty="0"/>
              <a:t>high-traffic outlets were disproportionately impacted</a:t>
            </a:r>
            <a:r>
              <a:rPr lang="en-US" dirty="0"/>
              <a:t> during the crisis.</a:t>
            </a:r>
          </a:p>
        </p:txBody>
      </p:sp>
      <p:sp>
        <p:nvSpPr>
          <p:cNvPr id="4" name="Slide Number Placeholder 3">
            <a:extLst>
              <a:ext uri="{FF2B5EF4-FFF2-40B4-BE49-F238E27FC236}">
                <a16:creationId xmlns:a16="http://schemas.microsoft.com/office/drawing/2014/main" id="{28B5CA82-C44E-E759-ECC1-1FD3D34A8307}"/>
              </a:ext>
            </a:extLst>
          </p:cNvPr>
          <p:cNvSpPr>
            <a:spLocks noGrp="1"/>
          </p:cNvSpPr>
          <p:nvPr>
            <p:ph type="sldNum" sz="quarter" idx="5"/>
          </p:nvPr>
        </p:nvSpPr>
        <p:spPr/>
        <p:txBody>
          <a:bodyPr/>
          <a:lstStyle/>
          <a:p>
            <a:fld id="{43BB0FB2-4AC7-4BEC-A36C-95D56662C058}" type="slidenum">
              <a:rPr lang="en-IN" smtClean="0"/>
              <a:t>8</a:t>
            </a:fld>
            <a:endParaRPr lang="en-IN"/>
          </a:p>
        </p:txBody>
      </p:sp>
    </p:spTree>
    <p:extLst>
      <p:ext uri="{BB962C8B-B14F-4D97-AF65-F5344CB8AC3E}">
        <p14:creationId xmlns:p14="http://schemas.microsoft.com/office/powerpoint/2010/main" val="29725095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64F81-811B-3740-BD8C-9A85185A1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910C47-02CB-69FF-47AA-370222216B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DCA684-F852-0D56-3CBC-EEBB5B01BC13}"/>
              </a:ext>
            </a:extLst>
          </p:cNvPr>
          <p:cNvSpPr>
            <a:spLocks noGrp="1"/>
          </p:cNvSpPr>
          <p:nvPr>
            <p:ph type="body" idx="1"/>
          </p:nvPr>
        </p:nvSpPr>
        <p:spPr/>
        <p:txBody>
          <a:bodyPr/>
          <a:lstStyle/>
          <a:p>
            <a:r>
              <a:rPr lang="en-US" dirty="0"/>
              <a:t>Order cancellations </a:t>
            </a:r>
            <a:r>
              <a:rPr lang="en-US" b="1" dirty="0"/>
              <a:t>doubled</a:t>
            </a:r>
            <a:r>
              <a:rPr lang="en-US" dirty="0"/>
              <a:t> during the crisis, rising from </a:t>
            </a:r>
            <a:r>
              <a:rPr lang="en-US" b="1" dirty="0"/>
              <a:t>6% pre-crisis</a:t>
            </a:r>
            <a:r>
              <a:rPr lang="en-US" dirty="0"/>
              <a:t> to </a:t>
            </a:r>
            <a:r>
              <a:rPr lang="en-US" b="1" dirty="0"/>
              <a:t>12% during the crisis</a:t>
            </a:r>
            <a:r>
              <a:rPr lang="en-US" dirty="0"/>
              <a:t>, reflecting declining customer trust and service disruptions.</a:t>
            </a:r>
          </a:p>
          <a:p>
            <a:endParaRPr lang="en-US" dirty="0"/>
          </a:p>
          <a:p>
            <a:r>
              <a:rPr lang="en-US" dirty="0"/>
              <a:t>The cities most affected were:</a:t>
            </a:r>
          </a:p>
          <a:p>
            <a:r>
              <a:rPr lang="en-US" b="1" dirty="0"/>
              <a:t>Delhi — 48.80%</a:t>
            </a:r>
            <a:r>
              <a:rPr lang="en-US" dirty="0"/>
              <a:t> (highest spike)</a:t>
            </a:r>
          </a:p>
          <a:p>
            <a:r>
              <a:rPr lang="en-US" b="1" dirty="0"/>
              <a:t>Pune — 42.66%</a:t>
            </a:r>
            <a:endParaRPr lang="en-US" dirty="0"/>
          </a:p>
          <a:p>
            <a:r>
              <a:rPr lang="en-US" b="1" dirty="0"/>
              <a:t>Mumbai — 37.24%</a:t>
            </a:r>
            <a:endParaRPr lang="en-US" dirty="0"/>
          </a:p>
          <a:p>
            <a:r>
              <a:rPr lang="en-US" b="1" dirty="0"/>
              <a:t>Other cities</a:t>
            </a:r>
            <a:r>
              <a:rPr lang="en-US" dirty="0"/>
              <a:t> also showed a clear increase in cancellation rates.</a:t>
            </a:r>
          </a:p>
          <a:p>
            <a:endParaRPr lang="en-US" dirty="0"/>
          </a:p>
          <a:p>
            <a:r>
              <a:rPr lang="en-US" dirty="0"/>
              <a:t>Overall, the trend shows that cancellations escalated sharply across regions as the crisis unfolded.</a:t>
            </a:r>
          </a:p>
          <a:p>
            <a:endParaRPr lang="en-US" dirty="0"/>
          </a:p>
        </p:txBody>
      </p:sp>
      <p:sp>
        <p:nvSpPr>
          <p:cNvPr id="4" name="Slide Number Placeholder 3">
            <a:extLst>
              <a:ext uri="{FF2B5EF4-FFF2-40B4-BE49-F238E27FC236}">
                <a16:creationId xmlns:a16="http://schemas.microsoft.com/office/drawing/2014/main" id="{CD610C8D-18B4-1390-8994-13165FE0FE78}"/>
              </a:ext>
            </a:extLst>
          </p:cNvPr>
          <p:cNvSpPr>
            <a:spLocks noGrp="1"/>
          </p:cNvSpPr>
          <p:nvPr>
            <p:ph type="sldNum" sz="quarter" idx="5"/>
          </p:nvPr>
        </p:nvSpPr>
        <p:spPr/>
        <p:txBody>
          <a:bodyPr/>
          <a:lstStyle/>
          <a:p>
            <a:fld id="{43BB0FB2-4AC7-4BEC-A36C-95D56662C058}" type="slidenum">
              <a:rPr lang="en-IN" smtClean="0"/>
              <a:t>9</a:t>
            </a:fld>
            <a:endParaRPr lang="en-IN"/>
          </a:p>
        </p:txBody>
      </p:sp>
    </p:spTree>
    <p:extLst>
      <p:ext uri="{BB962C8B-B14F-4D97-AF65-F5344CB8AC3E}">
        <p14:creationId xmlns:p14="http://schemas.microsoft.com/office/powerpoint/2010/main" val="2469508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850DF-0D98-19EB-5249-818D29310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42628D-D2DC-B5A9-A0AA-224AC42CB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F405B5-1830-5F51-2B88-4E96B4AD6696}"/>
              </a:ext>
            </a:extLst>
          </p:cNvPr>
          <p:cNvSpPr>
            <a:spLocks noGrp="1"/>
          </p:cNvSpPr>
          <p:nvPr>
            <p:ph type="body" idx="1"/>
          </p:nvPr>
        </p:nvSpPr>
        <p:spPr/>
        <p:txBody>
          <a:bodyPr/>
          <a:lstStyle/>
          <a:p>
            <a:r>
              <a:rPr lang="en-US" dirty="0"/>
              <a:t>Delivery efficiency dropped sharply during the crisis period.</a:t>
            </a:r>
          </a:p>
          <a:p>
            <a:endParaRPr lang="en-US" dirty="0"/>
          </a:p>
          <a:p>
            <a:r>
              <a:rPr lang="en-US" b="1" dirty="0"/>
              <a:t>Average Delivery Time:</a:t>
            </a:r>
            <a:endParaRPr lang="en-US" dirty="0"/>
          </a:p>
          <a:p>
            <a:pPr lvl="1"/>
            <a:r>
              <a:rPr lang="en-US" b="1" dirty="0"/>
              <a:t>Pre-crisis:</a:t>
            </a:r>
            <a:r>
              <a:rPr lang="en-US" dirty="0"/>
              <a:t> 39 mins</a:t>
            </a:r>
          </a:p>
          <a:p>
            <a:pPr lvl="1"/>
            <a:r>
              <a:rPr lang="en-US" b="1" dirty="0"/>
              <a:t>Crisis:</a:t>
            </a:r>
            <a:r>
              <a:rPr lang="en-US" dirty="0"/>
              <a:t> 60 mins</a:t>
            </a:r>
          </a:p>
          <a:p>
            <a:r>
              <a:rPr lang="en-US" b="1" dirty="0"/>
              <a:t>SLA Compliance:</a:t>
            </a:r>
            <a:endParaRPr lang="en-US" dirty="0"/>
          </a:p>
          <a:p>
            <a:pPr lvl="1"/>
            <a:r>
              <a:rPr lang="en-US" b="1" dirty="0"/>
              <a:t>Pre-crisis:</a:t>
            </a:r>
            <a:r>
              <a:rPr lang="en-US" dirty="0"/>
              <a:t> 43%</a:t>
            </a:r>
          </a:p>
          <a:p>
            <a:pPr lvl="1"/>
            <a:r>
              <a:rPr lang="en-US" b="1" dirty="0"/>
              <a:t>Crisis:</a:t>
            </a:r>
            <a:r>
              <a:rPr lang="en-US" dirty="0"/>
              <a:t> 12%</a:t>
            </a:r>
          </a:p>
          <a:p>
            <a:pPr lvl="1"/>
            <a:endParaRPr lang="en-US" dirty="0"/>
          </a:p>
          <a:p>
            <a:r>
              <a:rPr lang="en-US" dirty="0"/>
              <a:t>These metrics clearly show that SLA compliance </a:t>
            </a:r>
            <a:r>
              <a:rPr lang="en-US" b="1" dirty="0"/>
              <a:t>worsened drastically</a:t>
            </a:r>
            <a:r>
              <a:rPr lang="en-US" dirty="0"/>
              <a:t>, with longer delivery times and a steep drop in successful on-time deliveries.</a:t>
            </a:r>
          </a:p>
        </p:txBody>
      </p:sp>
      <p:sp>
        <p:nvSpPr>
          <p:cNvPr id="4" name="Slide Number Placeholder 3">
            <a:extLst>
              <a:ext uri="{FF2B5EF4-FFF2-40B4-BE49-F238E27FC236}">
                <a16:creationId xmlns:a16="http://schemas.microsoft.com/office/drawing/2014/main" id="{E0387CA2-2B30-4106-1702-B722DA35A960}"/>
              </a:ext>
            </a:extLst>
          </p:cNvPr>
          <p:cNvSpPr>
            <a:spLocks noGrp="1"/>
          </p:cNvSpPr>
          <p:nvPr>
            <p:ph type="sldNum" sz="quarter" idx="5"/>
          </p:nvPr>
        </p:nvSpPr>
        <p:spPr/>
        <p:txBody>
          <a:bodyPr/>
          <a:lstStyle/>
          <a:p>
            <a:fld id="{43BB0FB2-4AC7-4BEC-A36C-95D56662C058}" type="slidenum">
              <a:rPr lang="en-IN" smtClean="0"/>
              <a:t>10</a:t>
            </a:fld>
            <a:endParaRPr lang="en-IN"/>
          </a:p>
        </p:txBody>
      </p:sp>
    </p:spTree>
    <p:extLst>
      <p:ext uri="{BB962C8B-B14F-4D97-AF65-F5344CB8AC3E}">
        <p14:creationId xmlns:p14="http://schemas.microsoft.com/office/powerpoint/2010/main" val="2475057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E6227-1D88-3C91-E16B-52644103C4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98B41-1F6A-1F36-E983-0611FE871B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3636D0-3DED-77F0-FA90-801ACFA5E5AB}"/>
              </a:ext>
            </a:extLst>
          </p:cNvPr>
          <p:cNvSpPr>
            <a:spLocks noGrp="1"/>
          </p:cNvSpPr>
          <p:nvPr>
            <p:ph type="body" idx="1"/>
          </p:nvPr>
        </p:nvSpPr>
        <p:spPr/>
        <p:txBody>
          <a:bodyPr/>
          <a:lstStyle/>
          <a:p>
            <a:r>
              <a:rPr lang="en-US" dirty="0"/>
              <a:t>Customer ratings remained strong during the pre-crisis months, averaging </a:t>
            </a:r>
            <a:r>
              <a:rPr lang="en-US" b="1" dirty="0"/>
              <a:t>4.3 to 4.5</a:t>
            </a:r>
            <a:r>
              <a:rPr lang="en-US" dirty="0"/>
              <a:t> from January to May.</a:t>
            </a:r>
          </a:p>
          <a:p>
            <a:endParaRPr lang="en-US" dirty="0"/>
          </a:p>
          <a:p>
            <a:r>
              <a:rPr lang="en-US" dirty="0"/>
              <a:t>However, once the crisis hit in June, ratings dropped sharply:</a:t>
            </a:r>
          </a:p>
          <a:p>
            <a:r>
              <a:rPr lang="en-US" b="1" dirty="0"/>
              <a:t>June:</a:t>
            </a:r>
            <a:r>
              <a:rPr lang="en-US" dirty="0"/>
              <a:t> 3.23</a:t>
            </a:r>
          </a:p>
          <a:p>
            <a:endParaRPr lang="en-US" dirty="0"/>
          </a:p>
          <a:p>
            <a:r>
              <a:rPr lang="en-US" dirty="0"/>
              <a:t>This marks the </a:t>
            </a:r>
            <a:r>
              <a:rPr lang="en-US" b="1" dirty="0"/>
              <a:t>steepest month-to-month decline</a:t>
            </a:r>
            <a:r>
              <a:rPr lang="en-US" dirty="0"/>
              <a:t>, clearly reflecting customer frustration due to food safety concerns and delivery outages.</a:t>
            </a:r>
          </a:p>
          <a:p>
            <a:endParaRPr lang="en-US" dirty="0"/>
          </a:p>
        </p:txBody>
      </p:sp>
      <p:sp>
        <p:nvSpPr>
          <p:cNvPr id="4" name="Slide Number Placeholder 3">
            <a:extLst>
              <a:ext uri="{FF2B5EF4-FFF2-40B4-BE49-F238E27FC236}">
                <a16:creationId xmlns:a16="http://schemas.microsoft.com/office/drawing/2014/main" id="{EF64023F-1EB9-3359-EB66-227EB4625160}"/>
              </a:ext>
            </a:extLst>
          </p:cNvPr>
          <p:cNvSpPr>
            <a:spLocks noGrp="1"/>
          </p:cNvSpPr>
          <p:nvPr>
            <p:ph type="sldNum" sz="quarter" idx="5"/>
          </p:nvPr>
        </p:nvSpPr>
        <p:spPr/>
        <p:txBody>
          <a:bodyPr/>
          <a:lstStyle/>
          <a:p>
            <a:fld id="{43BB0FB2-4AC7-4BEC-A36C-95D56662C058}" type="slidenum">
              <a:rPr lang="en-IN" smtClean="0"/>
              <a:t>11</a:t>
            </a:fld>
            <a:endParaRPr lang="en-IN"/>
          </a:p>
        </p:txBody>
      </p:sp>
    </p:spTree>
    <p:extLst>
      <p:ext uri="{BB962C8B-B14F-4D97-AF65-F5344CB8AC3E}">
        <p14:creationId xmlns:p14="http://schemas.microsoft.com/office/powerpoint/2010/main" val="888906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4391F-B61D-8B69-CBCC-F973B5786C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B1D137-C6F0-0F3A-8984-71D8C5497C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38767-E23B-666E-4CAA-D56AA636EA3E}"/>
              </a:ext>
            </a:extLst>
          </p:cNvPr>
          <p:cNvSpPr>
            <a:spLocks noGrp="1"/>
          </p:cNvSpPr>
          <p:nvPr>
            <p:ph type="body" idx="1"/>
          </p:nvPr>
        </p:nvSpPr>
        <p:spPr/>
        <p:txBody>
          <a:bodyPr/>
          <a:lstStyle/>
          <a:p>
            <a:r>
              <a:rPr lang="en-US" dirty="0"/>
              <a:t>A word-cloud analysis of customer reviews during the crisis period revealed several recurring negative keywords. These highlight the main pain points driving dissatisfaction:</a:t>
            </a:r>
          </a:p>
          <a:p>
            <a:endParaRPr lang="en-US" dirty="0"/>
          </a:p>
          <a:p>
            <a:r>
              <a:rPr lang="en-US" b="1" dirty="0"/>
              <a:t>“Terrible hygiene”</a:t>
            </a:r>
            <a:endParaRPr lang="en-US" dirty="0"/>
          </a:p>
          <a:p>
            <a:r>
              <a:rPr lang="en-US" b="1" dirty="0"/>
              <a:t>“Stale food”</a:t>
            </a:r>
            <a:endParaRPr lang="en-US" dirty="0"/>
          </a:p>
          <a:p>
            <a:r>
              <a:rPr lang="en-US" b="1" dirty="0"/>
              <a:t>“Horrible service”</a:t>
            </a:r>
          </a:p>
          <a:p>
            <a:endParaRPr lang="en-US" dirty="0"/>
          </a:p>
          <a:p>
            <a:r>
              <a:rPr lang="en-US" dirty="0"/>
              <a:t>These keywords indicate that customer frustration was driven by </a:t>
            </a:r>
            <a:r>
              <a:rPr lang="en-US" b="1" dirty="0"/>
              <a:t>food safety issues</a:t>
            </a:r>
            <a:r>
              <a:rPr lang="en-US" dirty="0"/>
              <a:t>, </a:t>
            </a:r>
            <a:r>
              <a:rPr lang="en-US" b="1" dirty="0"/>
              <a:t>quality concerns</a:t>
            </a:r>
            <a:r>
              <a:rPr lang="en-US" dirty="0"/>
              <a:t>, and </a:t>
            </a:r>
            <a:r>
              <a:rPr lang="en-US" b="1" dirty="0"/>
              <a:t>service failures</a:t>
            </a:r>
            <a:r>
              <a:rPr lang="en-US" dirty="0"/>
              <a:t>, directly aligning with the crisis events </a:t>
            </a:r>
            <a:r>
              <a:rPr lang="en-US" dirty="0" err="1"/>
              <a:t>QuickBite</a:t>
            </a:r>
            <a:r>
              <a:rPr lang="en-US" dirty="0"/>
              <a:t> faced.</a:t>
            </a:r>
          </a:p>
        </p:txBody>
      </p:sp>
      <p:sp>
        <p:nvSpPr>
          <p:cNvPr id="4" name="Slide Number Placeholder 3">
            <a:extLst>
              <a:ext uri="{FF2B5EF4-FFF2-40B4-BE49-F238E27FC236}">
                <a16:creationId xmlns:a16="http://schemas.microsoft.com/office/drawing/2014/main" id="{92736F0E-A69D-E20F-2452-FA8385F48E26}"/>
              </a:ext>
            </a:extLst>
          </p:cNvPr>
          <p:cNvSpPr>
            <a:spLocks noGrp="1"/>
          </p:cNvSpPr>
          <p:nvPr>
            <p:ph type="sldNum" sz="quarter" idx="5"/>
          </p:nvPr>
        </p:nvSpPr>
        <p:spPr/>
        <p:txBody>
          <a:bodyPr/>
          <a:lstStyle/>
          <a:p>
            <a:fld id="{43BB0FB2-4AC7-4BEC-A36C-95D56662C058}" type="slidenum">
              <a:rPr lang="en-IN" smtClean="0"/>
              <a:t>12</a:t>
            </a:fld>
            <a:endParaRPr lang="en-IN"/>
          </a:p>
        </p:txBody>
      </p:sp>
    </p:spTree>
    <p:extLst>
      <p:ext uri="{BB962C8B-B14F-4D97-AF65-F5344CB8AC3E}">
        <p14:creationId xmlns:p14="http://schemas.microsoft.com/office/powerpoint/2010/main" val="1105338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D794F-8571-B79A-2608-7DBBC8C49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2CB125-7523-24AC-EE08-6DF62385F1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B9056F-F605-046D-7193-113DE95A83D7}"/>
              </a:ext>
            </a:extLst>
          </p:cNvPr>
          <p:cNvSpPr>
            <a:spLocks noGrp="1"/>
          </p:cNvSpPr>
          <p:nvPr>
            <p:ph type="body" idx="1"/>
          </p:nvPr>
        </p:nvSpPr>
        <p:spPr/>
        <p:txBody>
          <a:bodyPr/>
          <a:lstStyle/>
          <a:p>
            <a:r>
              <a:rPr lang="en-US" dirty="0" err="1"/>
              <a:t>QuickBite’s</a:t>
            </a:r>
            <a:r>
              <a:rPr lang="en-US" dirty="0"/>
              <a:t> revenue dropped sharply once the crisis began.</a:t>
            </a:r>
          </a:p>
          <a:p>
            <a:endParaRPr lang="en-US" dirty="0"/>
          </a:p>
          <a:p>
            <a:r>
              <a:rPr lang="en-US" b="1" dirty="0"/>
              <a:t>Pre-crisis Revenue:</a:t>
            </a:r>
            <a:r>
              <a:rPr lang="en-US" dirty="0"/>
              <a:t> ₹37.62M</a:t>
            </a:r>
          </a:p>
          <a:p>
            <a:r>
              <a:rPr lang="en-US" b="1" dirty="0"/>
              <a:t>Crisis Revenue:</a:t>
            </a:r>
            <a:r>
              <a:rPr lang="en-US" dirty="0"/>
              <a:t> ₹10.94M</a:t>
            </a:r>
          </a:p>
          <a:p>
            <a:endParaRPr lang="en-US" dirty="0"/>
          </a:p>
          <a:p>
            <a:r>
              <a:rPr lang="en-US" dirty="0"/>
              <a:t>This represents a </a:t>
            </a:r>
            <a:r>
              <a:rPr lang="en-US" b="1" dirty="0"/>
              <a:t>70% revenue loss</a:t>
            </a:r>
            <a:r>
              <a:rPr lang="en-US" dirty="0"/>
              <a:t>, driven by falling order volumes, higher cancellations, and reduced customer spending during the crisis period.</a:t>
            </a:r>
          </a:p>
        </p:txBody>
      </p:sp>
      <p:sp>
        <p:nvSpPr>
          <p:cNvPr id="4" name="Slide Number Placeholder 3">
            <a:extLst>
              <a:ext uri="{FF2B5EF4-FFF2-40B4-BE49-F238E27FC236}">
                <a16:creationId xmlns:a16="http://schemas.microsoft.com/office/drawing/2014/main" id="{8861DB9C-33CD-0755-859B-ADD2EE0E7D82}"/>
              </a:ext>
            </a:extLst>
          </p:cNvPr>
          <p:cNvSpPr>
            <a:spLocks noGrp="1"/>
          </p:cNvSpPr>
          <p:nvPr>
            <p:ph type="sldNum" sz="quarter" idx="5"/>
          </p:nvPr>
        </p:nvSpPr>
        <p:spPr/>
        <p:txBody>
          <a:bodyPr/>
          <a:lstStyle/>
          <a:p>
            <a:fld id="{43BB0FB2-4AC7-4BEC-A36C-95D56662C058}" type="slidenum">
              <a:rPr lang="en-IN" smtClean="0"/>
              <a:t>13</a:t>
            </a:fld>
            <a:endParaRPr lang="en-IN"/>
          </a:p>
        </p:txBody>
      </p:sp>
    </p:spTree>
    <p:extLst>
      <p:ext uri="{BB962C8B-B14F-4D97-AF65-F5344CB8AC3E}">
        <p14:creationId xmlns:p14="http://schemas.microsoft.com/office/powerpoint/2010/main" val="40086397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C1952-AFF3-6F74-9D9C-6AA6ED0CD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AE71C0-DE43-B15E-A36C-709592CD1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C0F02B-B94F-369C-4C59-0B685AB77893}"/>
              </a:ext>
            </a:extLst>
          </p:cNvPr>
          <p:cNvSpPr>
            <a:spLocks noGrp="1"/>
          </p:cNvSpPr>
          <p:nvPr>
            <p:ph type="body" idx="1"/>
          </p:nvPr>
        </p:nvSpPr>
        <p:spPr/>
        <p:txBody>
          <a:bodyPr/>
          <a:lstStyle/>
          <a:p>
            <a:r>
              <a:rPr lang="en-US" dirty="0"/>
              <a:t>Among customers who placed </a:t>
            </a:r>
            <a:r>
              <a:rPr lang="en-US" b="1" dirty="0"/>
              <a:t>5 or more orders before the crisis</a:t>
            </a:r>
            <a:r>
              <a:rPr lang="en-US" dirty="0"/>
              <a:t>, a significant portion stopped ordering once the crisis began:</a:t>
            </a:r>
          </a:p>
          <a:p>
            <a:endParaRPr lang="en-US" dirty="0"/>
          </a:p>
          <a:p>
            <a:r>
              <a:rPr lang="en-US" b="1" dirty="0"/>
              <a:t>Total Loyal Customers:</a:t>
            </a:r>
            <a:r>
              <a:rPr lang="en-US" dirty="0"/>
              <a:t> 58</a:t>
            </a:r>
          </a:p>
          <a:p>
            <a:r>
              <a:rPr lang="en-US" b="1" dirty="0"/>
              <a:t>Churned During Crisis:</a:t>
            </a:r>
            <a:r>
              <a:rPr lang="en-US" dirty="0"/>
              <a:t> 49</a:t>
            </a:r>
          </a:p>
          <a:p>
            <a:r>
              <a:rPr lang="en-US" b="1" dirty="0"/>
              <a:t>Top-Rated Churned Customers (Avg Rating &gt; 4.5):</a:t>
            </a:r>
            <a:r>
              <a:rPr lang="en-US" dirty="0"/>
              <a:t> 26</a:t>
            </a:r>
          </a:p>
          <a:p>
            <a:endParaRPr lang="en-US" dirty="0"/>
          </a:p>
          <a:p>
            <a:r>
              <a:rPr lang="en-US" dirty="0"/>
              <a:t>This shows that even </a:t>
            </a:r>
            <a:r>
              <a:rPr lang="en-US" b="1" dirty="0"/>
              <a:t>highly satisfied and loyal customers</a:t>
            </a:r>
            <a:r>
              <a:rPr lang="en-US" dirty="0"/>
              <a:t> were heavily impacted, </a:t>
            </a:r>
            <a:r>
              <a:rPr lang="en-US" dirty="0" err="1"/>
              <a:t>signalling</a:t>
            </a:r>
            <a:r>
              <a:rPr lang="en-US" dirty="0"/>
              <a:t> a major trust breakdown during the crisis.</a:t>
            </a:r>
          </a:p>
        </p:txBody>
      </p:sp>
      <p:sp>
        <p:nvSpPr>
          <p:cNvPr id="4" name="Slide Number Placeholder 3">
            <a:extLst>
              <a:ext uri="{FF2B5EF4-FFF2-40B4-BE49-F238E27FC236}">
                <a16:creationId xmlns:a16="http://schemas.microsoft.com/office/drawing/2014/main" id="{F0BE524D-4C0D-7282-2BD9-E53929A1BA2E}"/>
              </a:ext>
            </a:extLst>
          </p:cNvPr>
          <p:cNvSpPr>
            <a:spLocks noGrp="1"/>
          </p:cNvSpPr>
          <p:nvPr>
            <p:ph type="sldNum" sz="quarter" idx="5"/>
          </p:nvPr>
        </p:nvSpPr>
        <p:spPr/>
        <p:txBody>
          <a:bodyPr/>
          <a:lstStyle/>
          <a:p>
            <a:fld id="{43BB0FB2-4AC7-4BEC-A36C-95D56662C058}" type="slidenum">
              <a:rPr lang="en-IN" smtClean="0"/>
              <a:t>14</a:t>
            </a:fld>
            <a:endParaRPr lang="en-IN"/>
          </a:p>
        </p:txBody>
      </p:sp>
    </p:spTree>
    <p:extLst>
      <p:ext uri="{BB962C8B-B14F-4D97-AF65-F5344CB8AC3E}">
        <p14:creationId xmlns:p14="http://schemas.microsoft.com/office/powerpoint/2010/main" val="6702815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6770B-DAD7-37EE-47B4-77BF9933EB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8975BD-66BE-74DB-400D-30C1CF8737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A233D-E62E-738C-BA63-1AB30EF93BA4}"/>
              </a:ext>
            </a:extLst>
          </p:cNvPr>
          <p:cNvSpPr>
            <a:spLocks noGrp="1"/>
          </p:cNvSpPr>
          <p:nvPr>
            <p:ph type="body" idx="1"/>
          </p:nvPr>
        </p:nvSpPr>
        <p:spPr/>
        <p:txBody>
          <a:bodyPr/>
          <a:lstStyle/>
          <a:p>
            <a:r>
              <a:rPr lang="en-US" dirty="0"/>
              <a:t>Among the </a:t>
            </a:r>
            <a:r>
              <a:rPr lang="en-US" b="1" dirty="0"/>
              <a:t>top 5% high-value customers (5.388K)</a:t>
            </a:r>
            <a:r>
              <a:rPr lang="en-US" dirty="0"/>
              <a:t>, there was a severe drop in engagement:</a:t>
            </a:r>
          </a:p>
          <a:p>
            <a:endParaRPr lang="en-US" dirty="0"/>
          </a:p>
          <a:p>
            <a:r>
              <a:rPr lang="en-US" b="1" dirty="0"/>
              <a:t>Order Frequency Decline:</a:t>
            </a:r>
            <a:r>
              <a:rPr lang="en-US" dirty="0"/>
              <a:t> 92.22%</a:t>
            </a:r>
          </a:p>
          <a:p>
            <a:r>
              <a:rPr lang="en-US" b="1" dirty="0"/>
              <a:t>Crisis Rating:</a:t>
            </a:r>
            <a:r>
              <a:rPr lang="en-US" dirty="0"/>
              <a:t> 2.32</a:t>
            </a:r>
          </a:p>
          <a:p>
            <a:endParaRPr lang="en-US" dirty="0"/>
          </a:p>
          <a:p>
            <a:r>
              <a:rPr lang="en-US" b="1" dirty="0"/>
              <a:t>Common Patterns Noticed</a:t>
            </a:r>
          </a:p>
          <a:p>
            <a:r>
              <a:rPr lang="en-US" dirty="0"/>
              <a:t>High-value customers mostly showed:</a:t>
            </a:r>
          </a:p>
          <a:p>
            <a:endParaRPr lang="en-US" dirty="0"/>
          </a:p>
          <a:p>
            <a:r>
              <a:rPr lang="en-US" dirty="0"/>
              <a:t>Concentration in </a:t>
            </a:r>
            <a:r>
              <a:rPr lang="en-US" b="1" dirty="0"/>
              <a:t>Tier-1 cities(Bengaluru, Mumbai, Hyderabad)</a:t>
            </a:r>
            <a:endParaRPr lang="en-US" dirty="0"/>
          </a:p>
          <a:p>
            <a:r>
              <a:rPr lang="en-US" dirty="0"/>
              <a:t>Exposure to </a:t>
            </a:r>
            <a:r>
              <a:rPr lang="en-US" b="1" dirty="0"/>
              <a:t>long delivery delays</a:t>
            </a:r>
            <a:endParaRPr lang="en-US" dirty="0"/>
          </a:p>
          <a:p>
            <a:r>
              <a:rPr lang="en-US" dirty="0"/>
              <a:t>Complaints about </a:t>
            </a:r>
            <a:r>
              <a:rPr lang="en-US" b="1" dirty="0"/>
              <a:t>hygiene, stale food, and poor service</a:t>
            </a:r>
            <a:endParaRPr lang="en-US" dirty="0"/>
          </a:p>
          <a:p>
            <a:r>
              <a:rPr lang="en-US" dirty="0"/>
              <a:t>Dependence on </a:t>
            </a:r>
            <a:r>
              <a:rPr lang="en-US" b="1" dirty="0"/>
              <a:t>high-volume restaurants</a:t>
            </a:r>
            <a:r>
              <a:rPr lang="en-US" dirty="0"/>
              <a:t> that also saw major decline</a:t>
            </a:r>
          </a:p>
        </p:txBody>
      </p:sp>
      <p:sp>
        <p:nvSpPr>
          <p:cNvPr id="4" name="Slide Number Placeholder 3">
            <a:extLst>
              <a:ext uri="{FF2B5EF4-FFF2-40B4-BE49-F238E27FC236}">
                <a16:creationId xmlns:a16="http://schemas.microsoft.com/office/drawing/2014/main" id="{060E4F0A-C114-D37D-1505-AE99CA335055}"/>
              </a:ext>
            </a:extLst>
          </p:cNvPr>
          <p:cNvSpPr>
            <a:spLocks noGrp="1"/>
          </p:cNvSpPr>
          <p:nvPr>
            <p:ph type="sldNum" sz="quarter" idx="5"/>
          </p:nvPr>
        </p:nvSpPr>
        <p:spPr/>
        <p:txBody>
          <a:bodyPr/>
          <a:lstStyle/>
          <a:p>
            <a:fld id="{43BB0FB2-4AC7-4BEC-A36C-95D56662C058}" type="slidenum">
              <a:rPr lang="en-IN" smtClean="0"/>
              <a:t>15</a:t>
            </a:fld>
            <a:endParaRPr lang="en-IN"/>
          </a:p>
        </p:txBody>
      </p:sp>
    </p:spTree>
    <p:extLst>
      <p:ext uri="{BB962C8B-B14F-4D97-AF65-F5344CB8AC3E}">
        <p14:creationId xmlns:p14="http://schemas.microsoft.com/office/powerpoint/2010/main" val="30205757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D66D8-7A09-0F5D-1782-3CFE2425CE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EBCF63-AE89-94C1-8731-8FA17D5CAE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BDB599-F840-0B6A-D6B9-E0BE92098888}"/>
              </a:ext>
            </a:extLst>
          </p:cNvPr>
          <p:cNvSpPr>
            <a:spLocks noGrp="1"/>
          </p:cNvSpPr>
          <p:nvPr>
            <p:ph type="body" idx="1"/>
          </p:nvPr>
        </p:nvSpPr>
        <p:spPr/>
        <p:txBody>
          <a:bodyPr/>
          <a:lstStyle/>
          <a:p>
            <a:r>
              <a:rPr lang="en-US" dirty="0"/>
              <a:t>Thank You </a:t>
            </a:r>
          </a:p>
        </p:txBody>
      </p:sp>
      <p:sp>
        <p:nvSpPr>
          <p:cNvPr id="4" name="Slide Number Placeholder 3">
            <a:extLst>
              <a:ext uri="{FF2B5EF4-FFF2-40B4-BE49-F238E27FC236}">
                <a16:creationId xmlns:a16="http://schemas.microsoft.com/office/drawing/2014/main" id="{66759037-443E-1496-193B-53D8B88B311C}"/>
              </a:ext>
            </a:extLst>
          </p:cNvPr>
          <p:cNvSpPr>
            <a:spLocks noGrp="1"/>
          </p:cNvSpPr>
          <p:nvPr>
            <p:ph type="sldNum" sz="quarter" idx="5"/>
          </p:nvPr>
        </p:nvSpPr>
        <p:spPr/>
        <p:txBody>
          <a:bodyPr/>
          <a:lstStyle/>
          <a:p>
            <a:fld id="{43BB0FB2-4AC7-4BEC-A36C-95D56662C058}" type="slidenum">
              <a:rPr lang="en-IN" smtClean="0"/>
              <a:t>16</a:t>
            </a:fld>
            <a:endParaRPr lang="en-IN"/>
          </a:p>
        </p:txBody>
      </p:sp>
    </p:spTree>
    <p:extLst>
      <p:ext uri="{BB962C8B-B14F-4D97-AF65-F5344CB8AC3E}">
        <p14:creationId xmlns:p14="http://schemas.microsoft.com/office/powerpoint/2010/main" val="721074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16881-8D99-BC34-48F3-81729B5328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6618943-33B5-964F-6ACD-198CFBDE48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9FE70D9-1878-8AD3-55A6-7AFA1CBD3D2D}"/>
              </a:ext>
            </a:extLst>
          </p:cNvPr>
          <p:cNvSpPr>
            <a:spLocks noGrp="1"/>
          </p:cNvSpPr>
          <p:nvPr>
            <p:ph type="dt" sz="half" idx="10"/>
          </p:nvPr>
        </p:nvSpPr>
        <p:spPr/>
        <p:txBody>
          <a:bodyPr/>
          <a:lstStyle/>
          <a:p>
            <a:fld id="{22083476-C87C-461E-82E9-0EAE463FF272}" type="datetimeFigureOut">
              <a:rPr lang="en-IN" smtClean="0"/>
              <a:t>18-11-2025</a:t>
            </a:fld>
            <a:endParaRPr lang="en-IN"/>
          </a:p>
        </p:txBody>
      </p:sp>
      <p:sp>
        <p:nvSpPr>
          <p:cNvPr id="5" name="Footer Placeholder 4">
            <a:extLst>
              <a:ext uri="{FF2B5EF4-FFF2-40B4-BE49-F238E27FC236}">
                <a16:creationId xmlns:a16="http://schemas.microsoft.com/office/drawing/2014/main" id="{EDE6187E-95FF-088F-94E0-B844DFB957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B5F76B-B884-BCB0-6E48-4AEEE3D55534}"/>
              </a:ext>
            </a:extLst>
          </p:cNvPr>
          <p:cNvSpPr>
            <a:spLocks noGrp="1"/>
          </p:cNvSpPr>
          <p:nvPr>
            <p:ph type="sldNum" sz="quarter" idx="12"/>
          </p:nvPr>
        </p:nvSpPr>
        <p:spPr/>
        <p:txBody>
          <a:bodyPr/>
          <a:lstStyle/>
          <a:p>
            <a:fld id="{98C10DEA-72D2-47A6-967B-77FB4909CA85}" type="slidenum">
              <a:rPr lang="en-IN" smtClean="0"/>
              <a:t>‹#›</a:t>
            </a:fld>
            <a:endParaRPr lang="en-IN"/>
          </a:p>
        </p:txBody>
      </p:sp>
    </p:spTree>
    <p:extLst>
      <p:ext uri="{BB962C8B-B14F-4D97-AF65-F5344CB8AC3E}">
        <p14:creationId xmlns:p14="http://schemas.microsoft.com/office/powerpoint/2010/main" val="855502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510BF-201E-9451-FC20-6EB3C632BD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CA46FD-2790-75A5-85A4-3AC20BF34A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7EAD49-04D2-2FBB-C162-09B25BD52692}"/>
              </a:ext>
            </a:extLst>
          </p:cNvPr>
          <p:cNvSpPr>
            <a:spLocks noGrp="1"/>
          </p:cNvSpPr>
          <p:nvPr>
            <p:ph type="dt" sz="half" idx="10"/>
          </p:nvPr>
        </p:nvSpPr>
        <p:spPr/>
        <p:txBody>
          <a:bodyPr/>
          <a:lstStyle/>
          <a:p>
            <a:fld id="{22083476-C87C-461E-82E9-0EAE463FF272}" type="datetimeFigureOut">
              <a:rPr lang="en-IN" smtClean="0"/>
              <a:t>18-11-2025</a:t>
            </a:fld>
            <a:endParaRPr lang="en-IN"/>
          </a:p>
        </p:txBody>
      </p:sp>
      <p:sp>
        <p:nvSpPr>
          <p:cNvPr id="5" name="Footer Placeholder 4">
            <a:extLst>
              <a:ext uri="{FF2B5EF4-FFF2-40B4-BE49-F238E27FC236}">
                <a16:creationId xmlns:a16="http://schemas.microsoft.com/office/drawing/2014/main" id="{F9CDDCC9-BE5C-243E-5433-32C6C0531C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7654C1-ED8B-F7E0-4EAF-12B2B8EE4424}"/>
              </a:ext>
            </a:extLst>
          </p:cNvPr>
          <p:cNvSpPr>
            <a:spLocks noGrp="1"/>
          </p:cNvSpPr>
          <p:nvPr>
            <p:ph type="sldNum" sz="quarter" idx="12"/>
          </p:nvPr>
        </p:nvSpPr>
        <p:spPr/>
        <p:txBody>
          <a:bodyPr/>
          <a:lstStyle/>
          <a:p>
            <a:fld id="{98C10DEA-72D2-47A6-967B-77FB4909CA85}" type="slidenum">
              <a:rPr lang="en-IN" smtClean="0"/>
              <a:t>‹#›</a:t>
            </a:fld>
            <a:endParaRPr lang="en-IN"/>
          </a:p>
        </p:txBody>
      </p:sp>
    </p:spTree>
    <p:extLst>
      <p:ext uri="{BB962C8B-B14F-4D97-AF65-F5344CB8AC3E}">
        <p14:creationId xmlns:p14="http://schemas.microsoft.com/office/powerpoint/2010/main" val="1681730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945B9-7F2F-60A0-A617-2667F09E2F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73D410-79EC-F5D2-3862-4E55D0B712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5BFF6B-6C89-AEF7-FD78-821B9E715675}"/>
              </a:ext>
            </a:extLst>
          </p:cNvPr>
          <p:cNvSpPr>
            <a:spLocks noGrp="1"/>
          </p:cNvSpPr>
          <p:nvPr>
            <p:ph type="dt" sz="half" idx="10"/>
          </p:nvPr>
        </p:nvSpPr>
        <p:spPr/>
        <p:txBody>
          <a:bodyPr/>
          <a:lstStyle/>
          <a:p>
            <a:fld id="{22083476-C87C-461E-82E9-0EAE463FF272}" type="datetimeFigureOut">
              <a:rPr lang="en-IN" smtClean="0"/>
              <a:t>18-11-2025</a:t>
            </a:fld>
            <a:endParaRPr lang="en-IN"/>
          </a:p>
        </p:txBody>
      </p:sp>
      <p:sp>
        <p:nvSpPr>
          <p:cNvPr id="5" name="Footer Placeholder 4">
            <a:extLst>
              <a:ext uri="{FF2B5EF4-FFF2-40B4-BE49-F238E27FC236}">
                <a16:creationId xmlns:a16="http://schemas.microsoft.com/office/drawing/2014/main" id="{1A8E5651-CACD-F286-8EA2-AB191A51F7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C9E7D5-ECC2-19DF-B045-36E8103AA108}"/>
              </a:ext>
            </a:extLst>
          </p:cNvPr>
          <p:cNvSpPr>
            <a:spLocks noGrp="1"/>
          </p:cNvSpPr>
          <p:nvPr>
            <p:ph type="sldNum" sz="quarter" idx="12"/>
          </p:nvPr>
        </p:nvSpPr>
        <p:spPr/>
        <p:txBody>
          <a:bodyPr/>
          <a:lstStyle/>
          <a:p>
            <a:fld id="{98C10DEA-72D2-47A6-967B-77FB4909CA85}" type="slidenum">
              <a:rPr lang="en-IN" smtClean="0"/>
              <a:t>‹#›</a:t>
            </a:fld>
            <a:endParaRPr lang="en-IN"/>
          </a:p>
        </p:txBody>
      </p:sp>
    </p:spTree>
    <p:extLst>
      <p:ext uri="{BB962C8B-B14F-4D97-AF65-F5344CB8AC3E}">
        <p14:creationId xmlns:p14="http://schemas.microsoft.com/office/powerpoint/2010/main" val="2773606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DA82E-A67F-2279-3A87-A7763694BE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8697D8-6BCD-462D-3F2E-107FD4B2C8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709466D-6297-A59B-5630-AE95E7A563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048D50C-2E3A-71E2-0F28-52345590DCDD}"/>
              </a:ext>
            </a:extLst>
          </p:cNvPr>
          <p:cNvSpPr>
            <a:spLocks noGrp="1"/>
          </p:cNvSpPr>
          <p:nvPr>
            <p:ph type="dt" sz="half" idx="10"/>
          </p:nvPr>
        </p:nvSpPr>
        <p:spPr/>
        <p:txBody>
          <a:bodyPr/>
          <a:lstStyle/>
          <a:p>
            <a:fld id="{22083476-C87C-461E-82E9-0EAE463FF272}" type="datetimeFigureOut">
              <a:rPr lang="en-IN" smtClean="0"/>
              <a:t>18-11-2025</a:t>
            </a:fld>
            <a:endParaRPr lang="en-IN"/>
          </a:p>
        </p:txBody>
      </p:sp>
      <p:sp>
        <p:nvSpPr>
          <p:cNvPr id="6" name="Footer Placeholder 5">
            <a:extLst>
              <a:ext uri="{FF2B5EF4-FFF2-40B4-BE49-F238E27FC236}">
                <a16:creationId xmlns:a16="http://schemas.microsoft.com/office/drawing/2014/main" id="{4629F701-0E85-C95D-C0A2-960C67E1C7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F47CE6-03B0-7373-CAF1-19A3B95A1A45}"/>
              </a:ext>
            </a:extLst>
          </p:cNvPr>
          <p:cNvSpPr>
            <a:spLocks noGrp="1"/>
          </p:cNvSpPr>
          <p:nvPr>
            <p:ph type="sldNum" sz="quarter" idx="12"/>
          </p:nvPr>
        </p:nvSpPr>
        <p:spPr/>
        <p:txBody>
          <a:bodyPr/>
          <a:lstStyle/>
          <a:p>
            <a:fld id="{98C10DEA-72D2-47A6-967B-77FB4909CA85}" type="slidenum">
              <a:rPr lang="en-IN" smtClean="0"/>
              <a:t>‹#›</a:t>
            </a:fld>
            <a:endParaRPr lang="en-IN"/>
          </a:p>
        </p:txBody>
      </p:sp>
    </p:spTree>
    <p:extLst>
      <p:ext uri="{BB962C8B-B14F-4D97-AF65-F5344CB8AC3E}">
        <p14:creationId xmlns:p14="http://schemas.microsoft.com/office/powerpoint/2010/main" val="3989946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17A2-6507-E724-2978-F71DE151298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3F7C86-2F50-270B-F993-7B94CCFCAE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53F93-33A0-8103-6AA1-E8C316DA6C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2F2EBDC-E39A-CA3A-13A6-EDD93CBC4D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0AEF8B-FEB8-E907-1005-3B3654B6F9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CB6A852-2B91-89B9-3B28-2137D3676D5C}"/>
              </a:ext>
            </a:extLst>
          </p:cNvPr>
          <p:cNvSpPr>
            <a:spLocks noGrp="1"/>
          </p:cNvSpPr>
          <p:nvPr>
            <p:ph type="dt" sz="half" idx="10"/>
          </p:nvPr>
        </p:nvSpPr>
        <p:spPr/>
        <p:txBody>
          <a:bodyPr/>
          <a:lstStyle/>
          <a:p>
            <a:fld id="{22083476-C87C-461E-82E9-0EAE463FF272}" type="datetimeFigureOut">
              <a:rPr lang="en-IN" smtClean="0"/>
              <a:t>18-11-2025</a:t>
            </a:fld>
            <a:endParaRPr lang="en-IN"/>
          </a:p>
        </p:txBody>
      </p:sp>
      <p:sp>
        <p:nvSpPr>
          <p:cNvPr id="8" name="Footer Placeholder 7">
            <a:extLst>
              <a:ext uri="{FF2B5EF4-FFF2-40B4-BE49-F238E27FC236}">
                <a16:creationId xmlns:a16="http://schemas.microsoft.com/office/drawing/2014/main" id="{86CA2D41-D137-E2F2-4242-5885C4056B7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493FE73-B69D-6212-C9E9-6067FF3DA37D}"/>
              </a:ext>
            </a:extLst>
          </p:cNvPr>
          <p:cNvSpPr>
            <a:spLocks noGrp="1"/>
          </p:cNvSpPr>
          <p:nvPr>
            <p:ph type="sldNum" sz="quarter" idx="12"/>
          </p:nvPr>
        </p:nvSpPr>
        <p:spPr/>
        <p:txBody>
          <a:bodyPr/>
          <a:lstStyle/>
          <a:p>
            <a:fld id="{98C10DEA-72D2-47A6-967B-77FB4909CA85}" type="slidenum">
              <a:rPr lang="en-IN" smtClean="0"/>
              <a:t>‹#›</a:t>
            </a:fld>
            <a:endParaRPr lang="en-IN"/>
          </a:p>
        </p:txBody>
      </p:sp>
    </p:spTree>
    <p:extLst>
      <p:ext uri="{BB962C8B-B14F-4D97-AF65-F5344CB8AC3E}">
        <p14:creationId xmlns:p14="http://schemas.microsoft.com/office/powerpoint/2010/main" val="2749216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4175A-6547-0821-D13B-11D858A68E1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DF42176-B3E2-E9E8-6FC2-0C3D1F679634}"/>
              </a:ext>
            </a:extLst>
          </p:cNvPr>
          <p:cNvSpPr>
            <a:spLocks noGrp="1"/>
          </p:cNvSpPr>
          <p:nvPr>
            <p:ph type="dt" sz="half" idx="10"/>
          </p:nvPr>
        </p:nvSpPr>
        <p:spPr/>
        <p:txBody>
          <a:bodyPr/>
          <a:lstStyle/>
          <a:p>
            <a:fld id="{22083476-C87C-461E-82E9-0EAE463FF272}" type="datetimeFigureOut">
              <a:rPr lang="en-IN" smtClean="0"/>
              <a:t>18-11-2025</a:t>
            </a:fld>
            <a:endParaRPr lang="en-IN"/>
          </a:p>
        </p:txBody>
      </p:sp>
      <p:sp>
        <p:nvSpPr>
          <p:cNvPr id="4" name="Footer Placeholder 3">
            <a:extLst>
              <a:ext uri="{FF2B5EF4-FFF2-40B4-BE49-F238E27FC236}">
                <a16:creationId xmlns:a16="http://schemas.microsoft.com/office/drawing/2014/main" id="{6B9D4DC8-A799-4E98-4644-AB6DB9696D0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F8D886D-51F7-E00D-3746-C9DD423276A1}"/>
              </a:ext>
            </a:extLst>
          </p:cNvPr>
          <p:cNvSpPr>
            <a:spLocks noGrp="1"/>
          </p:cNvSpPr>
          <p:nvPr>
            <p:ph type="sldNum" sz="quarter" idx="12"/>
          </p:nvPr>
        </p:nvSpPr>
        <p:spPr/>
        <p:txBody>
          <a:bodyPr/>
          <a:lstStyle/>
          <a:p>
            <a:fld id="{98C10DEA-72D2-47A6-967B-77FB4909CA85}" type="slidenum">
              <a:rPr lang="en-IN" smtClean="0"/>
              <a:t>‹#›</a:t>
            </a:fld>
            <a:endParaRPr lang="en-IN"/>
          </a:p>
        </p:txBody>
      </p:sp>
    </p:spTree>
    <p:extLst>
      <p:ext uri="{BB962C8B-B14F-4D97-AF65-F5344CB8AC3E}">
        <p14:creationId xmlns:p14="http://schemas.microsoft.com/office/powerpoint/2010/main" val="1477313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8FD001-8D6F-8917-F9D6-21B34AF211E8}"/>
              </a:ext>
            </a:extLst>
          </p:cNvPr>
          <p:cNvSpPr>
            <a:spLocks noGrp="1"/>
          </p:cNvSpPr>
          <p:nvPr>
            <p:ph type="dt" sz="half" idx="10"/>
          </p:nvPr>
        </p:nvSpPr>
        <p:spPr/>
        <p:txBody>
          <a:bodyPr/>
          <a:lstStyle/>
          <a:p>
            <a:fld id="{22083476-C87C-461E-82E9-0EAE463FF272}" type="datetimeFigureOut">
              <a:rPr lang="en-IN" smtClean="0"/>
              <a:t>18-11-2025</a:t>
            </a:fld>
            <a:endParaRPr lang="en-IN"/>
          </a:p>
        </p:txBody>
      </p:sp>
      <p:sp>
        <p:nvSpPr>
          <p:cNvPr id="3" name="Footer Placeholder 2">
            <a:extLst>
              <a:ext uri="{FF2B5EF4-FFF2-40B4-BE49-F238E27FC236}">
                <a16:creationId xmlns:a16="http://schemas.microsoft.com/office/drawing/2014/main" id="{3BE1B3B6-6F9F-675F-0D04-2049FDFD496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B55AE0-DDB5-11FD-776B-5C19D40D62A0}"/>
              </a:ext>
            </a:extLst>
          </p:cNvPr>
          <p:cNvSpPr>
            <a:spLocks noGrp="1"/>
          </p:cNvSpPr>
          <p:nvPr>
            <p:ph type="sldNum" sz="quarter" idx="12"/>
          </p:nvPr>
        </p:nvSpPr>
        <p:spPr/>
        <p:txBody>
          <a:bodyPr/>
          <a:lstStyle/>
          <a:p>
            <a:fld id="{98C10DEA-72D2-47A6-967B-77FB4909CA85}" type="slidenum">
              <a:rPr lang="en-IN" smtClean="0"/>
              <a:t>‹#›</a:t>
            </a:fld>
            <a:endParaRPr lang="en-IN"/>
          </a:p>
        </p:txBody>
      </p:sp>
    </p:spTree>
    <p:extLst>
      <p:ext uri="{BB962C8B-B14F-4D97-AF65-F5344CB8AC3E}">
        <p14:creationId xmlns:p14="http://schemas.microsoft.com/office/powerpoint/2010/main" val="213304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F4117-6166-A71D-644E-5BE2FA3B6C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D64D10C-4778-9ACD-2836-E2AA7CC68A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D82F9F3-D260-3733-F91E-4F574149B4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B07126-BE78-4C32-3763-B4B77DD3FC5A}"/>
              </a:ext>
            </a:extLst>
          </p:cNvPr>
          <p:cNvSpPr>
            <a:spLocks noGrp="1"/>
          </p:cNvSpPr>
          <p:nvPr>
            <p:ph type="dt" sz="half" idx="10"/>
          </p:nvPr>
        </p:nvSpPr>
        <p:spPr/>
        <p:txBody>
          <a:bodyPr/>
          <a:lstStyle/>
          <a:p>
            <a:fld id="{22083476-C87C-461E-82E9-0EAE463FF272}" type="datetimeFigureOut">
              <a:rPr lang="en-IN" smtClean="0"/>
              <a:t>18-11-2025</a:t>
            </a:fld>
            <a:endParaRPr lang="en-IN"/>
          </a:p>
        </p:txBody>
      </p:sp>
      <p:sp>
        <p:nvSpPr>
          <p:cNvPr id="6" name="Footer Placeholder 5">
            <a:extLst>
              <a:ext uri="{FF2B5EF4-FFF2-40B4-BE49-F238E27FC236}">
                <a16:creationId xmlns:a16="http://schemas.microsoft.com/office/drawing/2014/main" id="{D84033AD-5511-B645-45F5-9DCA57991B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FE43D9-4D14-EED0-DCF7-BA203287927C}"/>
              </a:ext>
            </a:extLst>
          </p:cNvPr>
          <p:cNvSpPr>
            <a:spLocks noGrp="1"/>
          </p:cNvSpPr>
          <p:nvPr>
            <p:ph type="sldNum" sz="quarter" idx="12"/>
          </p:nvPr>
        </p:nvSpPr>
        <p:spPr/>
        <p:txBody>
          <a:bodyPr/>
          <a:lstStyle/>
          <a:p>
            <a:fld id="{98C10DEA-72D2-47A6-967B-77FB4909CA85}" type="slidenum">
              <a:rPr lang="en-IN" smtClean="0"/>
              <a:t>‹#›</a:t>
            </a:fld>
            <a:endParaRPr lang="en-IN"/>
          </a:p>
        </p:txBody>
      </p:sp>
    </p:spTree>
    <p:extLst>
      <p:ext uri="{BB962C8B-B14F-4D97-AF65-F5344CB8AC3E}">
        <p14:creationId xmlns:p14="http://schemas.microsoft.com/office/powerpoint/2010/main" val="3260923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20B4A-BC85-EC4D-3AFA-708B1399A3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A0835CF-51A2-FB68-65E8-C663130AF1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274D4EE-80C6-13C0-D5E1-AC39B9393A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EA2A05-A77F-E0C1-1278-8876DAEB0D0F}"/>
              </a:ext>
            </a:extLst>
          </p:cNvPr>
          <p:cNvSpPr>
            <a:spLocks noGrp="1"/>
          </p:cNvSpPr>
          <p:nvPr>
            <p:ph type="dt" sz="half" idx="10"/>
          </p:nvPr>
        </p:nvSpPr>
        <p:spPr/>
        <p:txBody>
          <a:bodyPr/>
          <a:lstStyle/>
          <a:p>
            <a:fld id="{22083476-C87C-461E-82E9-0EAE463FF272}" type="datetimeFigureOut">
              <a:rPr lang="en-IN" smtClean="0"/>
              <a:t>18-11-2025</a:t>
            </a:fld>
            <a:endParaRPr lang="en-IN"/>
          </a:p>
        </p:txBody>
      </p:sp>
      <p:sp>
        <p:nvSpPr>
          <p:cNvPr id="6" name="Footer Placeholder 5">
            <a:extLst>
              <a:ext uri="{FF2B5EF4-FFF2-40B4-BE49-F238E27FC236}">
                <a16:creationId xmlns:a16="http://schemas.microsoft.com/office/drawing/2014/main" id="{B9FB0341-474F-5378-5F02-C709D9EB8A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D0A6DA-3958-8221-ED0D-4564C4D1BCE8}"/>
              </a:ext>
            </a:extLst>
          </p:cNvPr>
          <p:cNvSpPr>
            <a:spLocks noGrp="1"/>
          </p:cNvSpPr>
          <p:nvPr>
            <p:ph type="sldNum" sz="quarter" idx="12"/>
          </p:nvPr>
        </p:nvSpPr>
        <p:spPr/>
        <p:txBody>
          <a:bodyPr/>
          <a:lstStyle/>
          <a:p>
            <a:fld id="{98C10DEA-72D2-47A6-967B-77FB4909CA85}" type="slidenum">
              <a:rPr lang="en-IN" smtClean="0"/>
              <a:t>‹#›</a:t>
            </a:fld>
            <a:endParaRPr lang="en-IN"/>
          </a:p>
        </p:txBody>
      </p:sp>
    </p:spTree>
    <p:extLst>
      <p:ext uri="{BB962C8B-B14F-4D97-AF65-F5344CB8AC3E}">
        <p14:creationId xmlns:p14="http://schemas.microsoft.com/office/powerpoint/2010/main" val="644495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E7785-AD79-D200-F508-1DC85F3E0B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94DE6B-AB69-FA49-793D-4EFB37AF15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C841A3-72DA-3CFB-7895-697BB643C563}"/>
              </a:ext>
            </a:extLst>
          </p:cNvPr>
          <p:cNvSpPr>
            <a:spLocks noGrp="1"/>
          </p:cNvSpPr>
          <p:nvPr>
            <p:ph type="dt" sz="half" idx="10"/>
          </p:nvPr>
        </p:nvSpPr>
        <p:spPr/>
        <p:txBody>
          <a:bodyPr/>
          <a:lstStyle/>
          <a:p>
            <a:fld id="{22083476-C87C-461E-82E9-0EAE463FF272}" type="datetimeFigureOut">
              <a:rPr lang="en-IN" smtClean="0"/>
              <a:t>18-11-2025</a:t>
            </a:fld>
            <a:endParaRPr lang="en-IN"/>
          </a:p>
        </p:txBody>
      </p:sp>
      <p:sp>
        <p:nvSpPr>
          <p:cNvPr id="5" name="Footer Placeholder 4">
            <a:extLst>
              <a:ext uri="{FF2B5EF4-FFF2-40B4-BE49-F238E27FC236}">
                <a16:creationId xmlns:a16="http://schemas.microsoft.com/office/drawing/2014/main" id="{49108091-D28E-DBDA-996B-0E4DE0330A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4134CE-151C-BE97-CCAD-31E698421D70}"/>
              </a:ext>
            </a:extLst>
          </p:cNvPr>
          <p:cNvSpPr>
            <a:spLocks noGrp="1"/>
          </p:cNvSpPr>
          <p:nvPr>
            <p:ph type="sldNum" sz="quarter" idx="12"/>
          </p:nvPr>
        </p:nvSpPr>
        <p:spPr/>
        <p:txBody>
          <a:bodyPr/>
          <a:lstStyle/>
          <a:p>
            <a:fld id="{98C10DEA-72D2-47A6-967B-77FB4909CA85}" type="slidenum">
              <a:rPr lang="en-IN" smtClean="0"/>
              <a:t>‹#›</a:t>
            </a:fld>
            <a:endParaRPr lang="en-IN"/>
          </a:p>
        </p:txBody>
      </p:sp>
    </p:spTree>
    <p:extLst>
      <p:ext uri="{BB962C8B-B14F-4D97-AF65-F5344CB8AC3E}">
        <p14:creationId xmlns:p14="http://schemas.microsoft.com/office/powerpoint/2010/main" val="4005417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4FD760-C3FA-EA36-4172-ED737BA0AF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46A93F-3787-025E-4180-9BAB4BDA72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782998-0C0D-6A2E-897F-E7BC5EB51DFE}"/>
              </a:ext>
            </a:extLst>
          </p:cNvPr>
          <p:cNvSpPr>
            <a:spLocks noGrp="1"/>
          </p:cNvSpPr>
          <p:nvPr>
            <p:ph type="dt" sz="half" idx="10"/>
          </p:nvPr>
        </p:nvSpPr>
        <p:spPr/>
        <p:txBody>
          <a:bodyPr/>
          <a:lstStyle/>
          <a:p>
            <a:fld id="{22083476-C87C-461E-82E9-0EAE463FF272}" type="datetimeFigureOut">
              <a:rPr lang="en-IN" smtClean="0"/>
              <a:t>18-11-2025</a:t>
            </a:fld>
            <a:endParaRPr lang="en-IN"/>
          </a:p>
        </p:txBody>
      </p:sp>
      <p:sp>
        <p:nvSpPr>
          <p:cNvPr id="5" name="Footer Placeholder 4">
            <a:extLst>
              <a:ext uri="{FF2B5EF4-FFF2-40B4-BE49-F238E27FC236}">
                <a16:creationId xmlns:a16="http://schemas.microsoft.com/office/drawing/2014/main" id="{EFC4011A-8015-B475-B8A1-10BD914686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8430D6-37B2-9920-5D27-C9DBBFFF762C}"/>
              </a:ext>
            </a:extLst>
          </p:cNvPr>
          <p:cNvSpPr>
            <a:spLocks noGrp="1"/>
          </p:cNvSpPr>
          <p:nvPr>
            <p:ph type="sldNum" sz="quarter" idx="12"/>
          </p:nvPr>
        </p:nvSpPr>
        <p:spPr/>
        <p:txBody>
          <a:bodyPr/>
          <a:lstStyle/>
          <a:p>
            <a:fld id="{98C10DEA-72D2-47A6-967B-77FB4909CA85}" type="slidenum">
              <a:rPr lang="en-IN" smtClean="0"/>
              <a:t>‹#›</a:t>
            </a:fld>
            <a:endParaRPr lang="en-IN"/>
          </a:p>
        </p:txBody>
      </p:sp>
    </p:spTree>
    <p:extLst>
      <p:ext uri="{BB962C8B-B14F-4D97-AF65-F5344CB8AC3E}">
        <p14:creationId xmlns:p14="http://schemas.microsoft.com/office/powerpoint/2010/main" val="82178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B67C6E-CC3F-41B3-C0E6-40744AB5EC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C96E75-9942-0FF5-1A02-930BC09BA3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188596-62F3-C4DC-DBE4-9F7A0C61EB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083476-C87C-461E-82E9-0EAE463FF272}" type="datetimeFigureOut">
              <a:rPr lang="en-IN" smtClean="0"/>
              <a:t>18-11-2025</a:t>
            </a:fld>
            <a:endParaRPr lang="en-IN"/>
          </a:p>
        </p:txBody>
      </p:sp>
      <p:sp>
        <p:nvSpPr>
          <p:cNvPr id="5" name="Footer Placeholder 4">
            <a:extLst>
              <a:ext uri="{FF2B5EF4-FFF2-40B4-BE49-F238E27FC236}">
                <a16:creationId xmlns:a16="http://schemas.microsoft.com/office/drawing/2014/main" id="{82FA4628-6533-B0FB-7D8F-A4AACF994C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AA2B9A9-FC46-55A6-108A-CB31D1A34D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C10DEA-72D2-47A6-967B-77FB4909CA85}" type="slidenum">
              <a:rPr lang="en-IN" smtClean="0"/>
              <a:t>‹#›</a:t>
            </a:fld>
            <a:endParaRPr lang="en-IN"/>
          </a:p>
        </p:txBody>
      </p:sp>
    </p:spTree>
    <p:extLst>
      <p:ext uri="{BB962C8B-B14F-4D97-AF65-F5344CB8AC3E}">
        <p14:creationId xmlns:p14="http://schemas.microsoft.com/office/powerpoint/2010/main" val="3012023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41B812-F97B-2D63-8391-7F3DDBD2E3CF}"/>
              </a:ext>
            </a:extLst>
          </p:cNvPr>
          <p:cNvPicPr>
            <a:picLocks noChangeAspect="1"/>
          </p:cNvPicPr>
          <p:nvPr/>
        </p:nvPicPr>
        <p:blipFill>
          <a:blip r:embed="rId4"/>
          <a:stretch>
            <a:fillRect/>
          </a:stretch>
        </p:blipFill>
        <p:spPr>
          <a:xfrm>
            <a:off x="3017520" y="1033349"/>
            <a:ext cx="5449824" cy="2395651"/>
          </a:xfrm>
          <a:prstGeom prst="rect">
            <a:avLst/>
          </a:prstGeom>
        </p:spPr>
      </p:pic>
      <p:sp>
        <p:nvSpPr>
          <p:cNvPr id="5" name="TextBox 4">
            <a:extLst>
              <a:ext uri="{FF2B5EF4-FFF2-40B4-BE49-F238E27FC236}">
                <a16:creationId xmlns:a16="http://schemas.microsoft.com/office/drawing/2014/main" id="{7B057CD3-6960-CF06-9717-9F094A56B09B}"/>
              </a:ext>
            </a:extLst>
          </p:cNvPr>
          <p:cNvSpPr txBox="1"/>
          <p:nvPr/>
        </p:nvSpPr>
        <p:spPr>
          <a:xfrm>
            <a:off x="2114967" y="3678749"/>
            <a:ext cx="7962065" cy="519822"/>
          </a:xfrm>
          <a:prstGeom prst="rect">
            <a:avLst/>
          </a:prstGeom>
          <a:noFill/>
        </p:spPr>
        <p:txBody>
          <a:bodyPr wrap="square">
            <a:spAutoFit/>
          </a:bodyPr>
          <a:lstStyle/>
          <a:p>
            <a:pPr algn="l">
              <a:lnSpc>
                <a:spcPts val="3600"/>
              </a:lnSpc>
              <a:buNone/>
            </a:pPr>
            <a:r>
              <a:rPr lang="en-US" sz="2400" b="1" i="0" dirty="0">
                <a:solidFill>
                  <a:schemeClr val="bg1"/>
                </a:solidFill>
                <a:effectLst/>
                <a:latin typeface="Manrope"/>
              </a:rPr>
              <a:t>Insights for Crisis Recovery in an Online Food Delivery Startup</a:t>
            </a:r>
          </a:p>
        </p:txBody>
      </p:sp>
      <p:sp>
        <p:nvSpPr>
          <p:cNvPr id="4" name="TextBox 3">
            <a:extLst>
              <a:ext uri="{FF2B5EF4-FFF2-40B4-BE49-F238E27FC236}">
                <a16:creationId xmlns:a16="http://schemas.microsoft.com/office/drawing/2014/main" id="{894D69B7-BC2B-7662-0E80-BFD4E87AFD49}"/>
              </a:ext>
            </a:extLst>
          </p:cNvPr>
          <p:cNvSpPr txBox="1"/>
          <p:nvPr/>
        </p:nvSpPr>
        <p:spPr>
          <a:xfrm>
            <a:off x="3723967" y="4198571"/>
            <a:ext cx="4450769" cy="519822"/>
          </a:xfrm>
          <a:prstGeom prst="rect">
            <a:avLst/>
          </a:prstGeom>
          <a:noFill/>
        </p:spPr>
        <p:txBody>
          <a:bodyPr wrap="square">
            <a:spAutoFit/>
          </a:bodyPr>
          <a:lstStyle/>
          <a:p>
            <a:pPr algn="l">
              <a:lnSpc>
                <a:spcPts val="3600"/>
              </a:lnSpc>
              <a:buNone/>
            </a:pPr>
            <a:r>
              <a:rPr lang="en-US" sz="2400" b="1" i="0" dirty="0" err="1">
                <a:solidFill>
                  <a:schemeClr val="bg1"/>
                </a:solidFill>
                <a:effectLst/>
                <a:latin typeface="Manrope"/>
              </a:rPr>
              <a:t>Codebasics</a:t>
            </a:r>
            <a:r>
              <a:rPr lang="en-US" sz="2400" b="1" i="0" dirty="0">
                <a:solidFill>
                  <a:schemeClr val="bg1"/>
                </a:solidFill>
                <a:effectLst/>
                <a:latin typeface="Manrope"/>
              </a:rPr>
              <a:t> Resume Challenge</a:t>
            </a:r>
          </a:p>
        </p:txBody>
      </p:sp>
      <p:sp>
        <p:nvSpPr>
          <p:cNvPr id="7" name="TextBox 6">
            <a:extLst>
              <a:ext uri="{FF2B5EF4-FFF2-40B4-BE49-F238E27FC236}">
                <a16:creationId xmlns:a16="http://schemas.microsoft.com/office/drawing/2014/main" id="{1EA53060-17F5-CE81-0142-2D3A811520B1}"/>
              </a:ext>
            </a:extLst>
          </p:cNvPr>
          <p:cNvSpPr txBox="1"/>
          <p:nvPr/>
        </p:nvSpPr>
        <p:spPr>
          <a:xfrm>
            <a:off x="9132914" y="5119343"/>
            <a:ext cx="1888236" cy="981487"/>
          </a:xfrm>
          <a:prstGeom prst="rect">
            <a:avLst/>
          </a:prstGeom>
          <a:noFill/>
        </p:spPr>
        <p:txBody>
          <a:bodyPr wrap="square">
            <a:spAutoFit/>
          </a:bodyPr>
          <a:lstStyle/>
          <a:p>
            <a:pPr algn="l">
              <a:lnSpc>
                <a:spcPts val="3600"/>
              </a:lnSpc>
              <a:buNone/>
            </a:pPr>
            <a:r>
              <a:rPr lang="en-US" sz="2400" b="1" i="0" dirty="0">
                <a:solidFill>
                  <a:schemeClr val="bg1"/>
                </a:solidFill>
                <a:effectLst/>
                <a:latin typeface="Manrope"/>
              </a:rPr>
              <a:t>Presented By</a:t>
            </a:r>
          </a:p>
          <a:p>
            <a:pPr algn="l">
              <a:lnSpc>
                <a:spcPts val="3600"/>
              </a:lnSpc>
              <a:buNone/>
            </a:pPr>
            <a:r>
              <a:rPr lang="en-US" sz="2400" b="1" dirty="0">
                <a:solidFill>
                  <a:schemeClr val="bg1"/>
                </a:solidFill>
                <a:latin typeface="Manrope"/>
              </a:rPr>
              <a:t>K. Poojitha</a:t>
            </a:r>
            <a:endParaRPr lang="en-US" sz="2400" b="1" i="0" dirty="0">
              <a:solidFill>
                <a:schemeClr val="bg1"/>
              </a:solidFill>
              <a:effectLst/>
              <a:latin typeface="Manrope"/>
            </a:endParaRPr>
          </a:p>
        </p:txBody>
      </p:sp>
    </p:spTree>
    <p:extLst>
      <p:ext uri="{BB962C8B-B14F-4D97-AF65-F5344CB8AC3E}">
        <p14:creationId xmlns:p14="http://schemas.microsoft.com/office/powerpoint/2010/main" val="2718852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4AFD69-97A2-0BD6-9B87-DDB671E93C2E}"/>
              </a:ext>
            </a:extLst>
          </p:cNvPr>
          <p:cNvSpPr txBox="1"/>
          <p:nvPr/>
        </p:nvSpPr>
        <p:spPr>
          <a:xfrm>
            <a:off x="233172" y="281446"/>
            <a:ext cx="10867644" cy="6001643"/>
          </a:xfrm>
          <a:prstGeom prst="rect">
            <a:avLst/>
          </a:prstGeom>
          <a:noFill/>
        </p:spPr>
        <p:txBody>
          <a:bodyPr wrap="square">
            <a:spAutoFit/>
          </a:bodyPr>
          <a:lstStyle/>
          <a:p>
            <a:pPr>
              <a:buNone/>
            </a:pPr>
            <a:r>
              <a:rPr lang="en-US" sz="2400" b="1" dirty="0">
                <a:solidFill>
                  <a:schemeClr val="bg1"/>
                </a:solidFill>
              </a:rPr>
              <a:t>Problem Statement: </a:t>
            </a:r>
          </a:p>
          <a:p>
            <a:pPr>
              <a:buNone/>
            </a:pPr>
            <a:r>
              <a:rPr lang="en-US" sz="2400" dirty="0" err="1">
                <a:solidFill>
                  <a:schemeClr val="bg1"/>
                </a:solidFill>
              </a:rPr>
              <a:t>QuickBite</a:t>
            </a:r>
            <a:r>
              <a:rPr lang="en-US" sz="2400" dirty="0">
                <a:solidFill>
                  <a:schemeClr val="bg1"/>
                </a:solidFill>
              </a:rPr>
              <a:t> Express faced a major crisis in June 2025 due to:</a:t>
            </a:r>
          </a:p>
          <a:p>
            <a:pPr marL="342900" indent="-342900">
              <a:buFont typeface="Arial" panose="020B0604020202020204" pitchFamily="34" charset="0"/>
              <a:buChar char="•"/>
            </a:pPr>
            <a:r>
              <a:rPr lang="en-US" sz="2400" dirty="0">
                <a:solidFill>
                  <a:schemeClr val="bg1"/>
                </a:solidFill>
              </a:rPr>
              <a:t>Viral social media reports on </a:t>
            </a:r>
            <a:r>
              <a:rPr lang="en-US" sz="2400" b="1" dirty="0">
                <a:solidFill>
                  <a:schemeClr val="bg1"/>
                </a:solidFill>
              </a:rPr>
              <a:t>food safety violations</a:t>
            </a:r>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rPr>
              <a:t>A </a:t>
            </a:r>
            <a:r>
              <a:rPr lang="en-US" sz="2400" b="1" dirty="0">
                <a:solidFill>
                  <a:schemeClr val="bg1"/>
                </a:solidFill>
              </a:rPr>
              <a:t>week-long delivery outage</a:t>
            </a:r>
            <a:r>
              <a:rPr lang="en-US" sz="2400" dirty="0">
                <a:solidFill>
                  <a:schemeClr val="bg1"/>
                </a:solidFill>
              </a:rPr>
              <a:t> during monsoon</a:t>
            </a:r>
          </a:p>
          <a:p>
            <a:pPr marL="342900" indent="-342900">
              <a:buFont typeface="Arial" panose="020B0604020202020204" pitchFamily="34" charset="0"/>
              <a:buChar char="•"/>
            </a:pPr>
            <a:r>
              <a:rPr lang="en-US" sz="2400" dirty="0">
                <a:solidFill>
                  <a:schemeClr val="bg1"/>
                </a:solidFill>
              </a:rPr>
              <a:t>This led to a sharp drop in orders, customer churn, negative sentiment, partner restaurant exits, and rising acquisition costs. </a:t>
            </a:r>
            <a:r>
              <a:rPr lang="en-US" sz="2400" dirty="0" err="1">
                <a:solidFill>
                  <a:schemeClr val="bg1"/>
                </a:solidFill>
              </a:rPr>
              <a:t>QuickBite</a:t>
            </a:r>
            <a:r>
              <a:rPr lang="en-US" sz="2400" dirty="0">
                <a:solidFill>
                  <a:schemeClr val="bg1"/>
                </a:solidFill>
              </a:rPr>
              <a:t> now needs data-driven insights to recover trust and stabilize operations.</a:t>
            </a:r>
          </a:p>
          <a:p>
            <a:pPr>
              <a:buFont typeface="Arial" panose="020B0604020202020204" pitchFamily="34" charset="0"/>
              <a:buChar char="•"/>
            </a:pPr>
            <a:endParaRPr lang="en-US" sz="2400" dirty="0">
              <a:solidFill>
                <a:schemeClr val="bg1"/>
              </a:solidFill>
            </a:endParaRPr>
          </a:p>
          <a:p>
            <a:r>
              <a:rPr lang="en-US" sz="2400" b="1" dirty="0">
                <a:solidFill>
                  <a:schemeClr val="bg1"/>
                </a:solidFill>
              </a:rPr>
              <a:t>Business Objectives :</a:t>
            </a:r>
          </a:p>
          <a:p>
            <a:pPr marL="342900" indent="-342900">
              <a:buFont typeface="Arial" panose="020B0604020202020204" pitchFamily="34" charset="0"/>
              <a:buChar char="•"/>
            </a:pPr>
            <a:r>
              <a:rPr lang="en-US" sz="2400" b="1" dirty="0">
                <a:solidFill>
                  <a:schemeClr val="bg1"/>
                </a:solidFill>
              </a:rPr>
              <a:t>Measure crisis impact</a:t>
            </a:r>
            <a:r>
              <a:rPr lang="en-US" sz="2400" dirty="0">
                <a:solidFill>
                  <a:schemeClr val="bg1"/>
                </a:solidFill>
              </a:rPr>
              <a:t> on orders, revenue, delivery performance, and rating,  Identify churned &amp; high-risk customer segments.</a:t>
            </a:r>
          </a:p>
          <a:p>
            <a:pPr marL="342900" indent="-342900">
              <a:buFont typeface="Arial" panose="020B0604020202020204" pitchFamily="34" charset="0"/>
              <a:buChar char="•"/>
            </a:pPr>
            <a:r>
              <a:rPr lang="en-US" sz="2400" b="1" dirty="0" err="1">
                <a:solidFill>
                  <a:schemeClr val="bg1"/>
                </a:solidFill>
              </a:rPr>
              <a:t>Analyse</a:t>
            </a:r>
            <a:r>
              <a:rPr lang="en-US" sz="2400" b="1" dirty="0">
                <a:solidFill>
                  <a:schemeClr val="bg1"/>
                </a:solidFill>
              </a:rPr>
              <a:t> operational gaps</a:t>
            </a:r>
            <a:r>
              <a:rPr lang="en-US" sz="2400" dirty="0">
                <a:solidFill>
                  <a:schemeClr val="bg1"/>
                </a:solidFill>
              </a:rPr>
              <a:t> (SLA, cancellations, delays)</a:t>
            </a:r>
          </a:p>
          <a:p>
            <a:pPr marL="342900" indent="-342900">
              <a:buFont typeface="Arial" panose="020B0604020202020204" pitchFamily="34" charset="0"/>
              <a:buChar char="•"/>
            </a:pPr>
            <a:r>
              <a:rPr lang="en-US" sz="2400" b="1" dirty="0">
                <a:solidFill>
                  <a:schemeClr val="bg1"/>
                </a:solidFill>
              </a:rPr>
              <a:t>Understand sentiment trends</a:t>
            </a:r>
            <a:r>
              <a:rPr lang="en-US" sz="2400" dirty="0">
                <a:solidFill>
                  <a:schemeClr val="bg1"/>
                </a:solidFill>
              </a:rPr>
              <a:t> and key complaint drivers</a:t>
            </a:r>
          </a:p>
          <a:p>
            <a:pPr marL="342900" indent="-342900">
              <a:buFont typeface="Arial" panose="020B0604020202020204" pitchFamily="34" charset="0"/>
              <a:buChar char="•"/>
            </a:pPr>
            <a:r>
              <a:rPr lang="en-US" sz="2400" b="1" dirty="0">
                <a:solidFill>
                  <a:schemeClr val="bg1"/>
                </a:solidFill>
              </a:rPr>
              <a:t>Support recovery strategy</a:t>
            </a:r>
            <a:r>
              <a:rPr lang="en-US" sz="2400" dirty="0">
                <a:solidFill>
                  <a:schemeClr val="bg1"/>
                </a:solidFill>
              </a:rPr>
              <a:t> through targeted campaigns, partner retention, and improved service quality</a:t>
            </a:r>
          </a:p>
          <a:p>
            <a:pPr>
              <a:buFont typeface="Arial" panose="020B0604020202020204" pitchFamily="34" charset="0"/>
              <a:buChar char="•"/>
            </a:pPr>
            <a:endParaRPr lang="en-US" sz="2400" dirty="0">
              <a:solidFill>
                <a:schemeClr val="bg1"/>
              </a:solidFill>
            </a:endParaRPr>
          </a:p>
        </p:txBody>
      </p:sp>
    </p:spTree>
    <p:extLst>
      <p:ext uri="{BB962C8B-B14F-4D97-AF65-F5344CB8AC3E}">
        <p14:creationId xmlns:p14="http://schemas.microsoft.com/office/powerpoint/2010/main" val="3258108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819B28F-C4A7-37C7-EFF3-1F8F142607E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ABC141C-0176-0789-6A26-2D1A8060680E}"/>
              </a:ext>
            </a:extLst>
          </p:cNvPr>
          <p:cNvPicPr>
            <a:picLocks noChangeAspect="1"/>
          </p:cNvPicPr>
          <p:nvPr/>
        </p:nvPicPr>
        <p:blipFill>
          <a:blip r:embed="rId4"/>
          <a:stretch>
            <a:fillRect/>
          </a:stretch>
        </p:blipFill>
        <p:spPr>
          <a:xfrm>
            <a:off x="324612" y="1207008"/>
            <a:ext cx="10593324" cy="5248656"/>
          </a:xfrm>
          <a:prstGeom prst="rect">
            <a:avLst/>
          </a:prstGeom>
        </p:spPr>
      </p:pic>
      <p:sp>
        <p:nvSpPr>
          <p:cNvPr id="7" name="TextBox 6">
            <a:extLst>
              <a:ext uri="{FF2B5EF4-FFF2-40B4-BE49-F238E27FC236}">
                <a16:creationId xmlns:a16="http://schemas.microsoft.com/office/drawing/2014/main" id="{C597D83E-8B1D-88D1-76AF-6D6B8A0FAFAD}"/>
              </a:ext>
            </a:extLst>
          </p:cNvPr>
          <p:cNvSpPr txBox="1"/>
          <p:nvPr/>
        </p:nvSpPr>
        <p:spPr>
          <a:xfrm>
            <a:off x="324612" y="402336"/>
            <a:ext cx="6099048" cy="461665"/>
          </a:xfrm>
          <a:prstGeom prst="rect">
            <a:avLst/>
          </a:prstGeom>
          <a:noFill/>
        </p:spPr>
        <p:txBody>
          <a:bodyPr wrap="square">
            <a:spAutoFit/>
          </a:bodyPr>
          <a:lstStyle/>
          <a:p>
            <a:r>
              <a:rPr lang="en-US" sz="2400" dirty="0">
                <a:solidFill>
                  <a:schemeClr val="bg1"/>
                </a:solidFill>
              </a:rPr>
              <a:t>Data Model:</a:t>
            </a:r>
          </a:p>
        </p:txBody>
      </p:sp>
    </p:spTree>
    <p:extLst>
      <p:ext uri="{BB962C8B-B14F-4D97-AF65-F5344CB8AC3E}">
        <p14:creationId xmlns:p14="http://schemas.microsoft.com/office/powerpoint/2010/main" val="1395772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0C5C664-7D68-25E3-9887-5228C19B024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9FA37DF-B352-F185-776E-75A16ADD147C}"/>
              </a:ext>
            </a:extLst>
          </p:cNvPr>
          <p:cNvPicPr>
            <a:picLocks noChangeAspect="1"/>
          </p:cNvPicPr>
          <p:nvPr/>
        </p:nvPicPr>
        <p:blipFill>
          <a:blip r:embed="rId4"/>
          <a:stretch>
            <a:fillRect/>
          </a:stretch>
        </p:blipFill>
        <p:spPr>
          <a:xfrm>
            <a:off x="512064" y="914400"/>
            <a:ext cx="9784080" cy="5449824"/>
          </a:xfrm>
          <a:prstGeom prst="rect">
            <a:avLst/>
          </a:prstGeom>
        </p:spPr>
      </p:pic>
      <p:sp>
        <p:nvSpPr>
          <p:cNvPr id="6" name="TextBox 5">
            <a:extLst>
              <a:ext uri="{FF2B5EF4-FFF2-40B4-BE49-F238E27FC236}">
                <a16:creationId xmlns:a16="http://schemas.microsoft.com/office/drawing/2014/main" id="{BCC60CC2-34AA-9FC2-B5EE-94C7E6E87588}"/>
              </a:ext>
            </a:extLst>
          </p:cNvPr>
          <p:cNvSpPr txBox="1"/>
          <p:nvPr/>
        </p:nvSpPr>
        <p:spPr>
          <a:xfrm>
            <a:off x="4197096" y="262943"/>
            <a:ext cx="2057400" cy="461665"/>
          </a:xfrm>
          <a:prstGeom prst="rect">
            <a:avLst/>
          </a:prstGeom>
          <a:noFill/>
        </p:spPr>
        <p:txBody>
          <a:bodyPr wrap="square">
            <a:spAutoFit/>
          </a:bodyPr>
          <a:lstStyle/>
          <a:p>
            <a:r>
              <a:rPr lang="en-US" sz="2400" b="1" dirty="0">
                <a:solidFill>
                  <a:schemeClr val="bg1"/>
                </a:solidFill>
              </a:rPr>
              <a:t>DASHBOARD</a:t>
            </a:r>
          </a:p>
        </p:txBody>
      </p:sp>
    </p:spTree>
    <p:extLst>
      <p:ext uri="{BB962C8B-B14F-4D97-AF65-F5344CB8AC3E}">
        <p14:creationId xmlns:p14="http://schemas.microsoft.com/office/powerpoint/2010/main" val="50039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60962B4-44EC-9D90-0994-20114818E88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9C96F32-0DF3-7B5A-5899-DA3B06CFD749}"/>
              </a:ext>
            </a:extLst>
          </p:cNvPr>
          <p:cNvSpPr txBox="1"/>
          <p:nvPr/>
        </p:nvSpPr>
        <p:spPr>
          <a:xfrm>
            <a:off x="3560826" y="2875895"/>
            <a:ext cx="4723638" cy="769441"/>
          </a:xfrm>
          <a:prstGeom prst="rect">
            <a:avLst/>
          </a:prstGeom>
          <a:noFill/>
        </p:spPr>
        <p:txBody>
          <a:bodyPr wrap="square">
            <a:spAutoFit/>
          </a:bodyPr>
          <a:lstStyle/>
          <a:p>
            <a:r>
              <a:rPr lang="en-US" sz="4400" dirty="0">
                <a:solidFill>
                  <a:schemeClr val="bg1"/>
                </a:solidFill>
              </a:rPr>
              <a:t>Primary Questions</a:t>
            </a:r>
          </a:p>
        </p:txBody>
      </p:sp>
    </p:spTree>
    <p:extLst>
      <p:ext uri="{BB962C8B-B14F-4D97-AF65-F5344CB8AC3E}">
        <p14:creationId xmlns:p14="http://schemas.microsoft.com/office/powerpoint/2010/main" val="1902088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42BBEB9-6B49-27F0-5C7B-8977FCAC6FD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7A44A0A-6327-E2C2-2AE9-2189F0FDF3E9}"/>
              </a:ext>
            </a:extLst>
          </p:cNvPr>
          <p:cNvSpPr txBox="1"/>
          <p:nvPr/>
        </p:nvSpPr>
        <p:spPr>
          <a:xfrm>
            <a:off x="451866" y="333863"/>
            <a:ext cx="8631174" cy="830997"/>
          </a:xfrm>
          <a:prstGeom prst="rect">
            <a:avLst/>
          </a:prstGeom>
          <a:noFill/>
        </p:spPr>
        <p:txBody>
          <a:bodyPr wrap="square">
            <a:spAutoFit/>
          </a:bodyPr>
          <a:lstStyle/>
          <a:p>
            <a:r>
              <a:rPr lang="en-US" sz="2400" dirty="0">
                <a:solidFill>
                  <a:schemeClr val="bg1"/>
                </a:solidFill>
              </a:rPr>
              <a:t>1. Monthly Orders: Compare total orders across pre-crisis (Jan–May 2025) vs crisis (Jun–Sep 2025). How severe is the decline? </a:t>
            </a:r>
          </a:p>
        </p:txBody>
      </p:sp>
      <p:pic>
        <p:nvPicPr>
          <p:cNvPr id="16" name="Picture 15">
            <a:extLst>
              <a:ext uri="{FF2B5EF4-FFF2-40B4-BE49-F238E27FC236}">
                <a16:creationId xmlns:a16="http://schemas.microsoft.com/office/drawing/2014/main" id="{AE7E421A-F88C-AC14-11F3-7B3DBF677E52}"/>
              </a:ext>
            </a:extLst>
          </p:cNvPr>
          <p:cNvPicPr>
            <a:picLocks noChangeAspect="1"/>
          </p:cNvPicPr>
          <p:nvPr/>
        </p:nvPicPr>
        <p:blipFill>
          <a:blip r:embed="rId4"/>
          <a:stretch>
            <a:fillRect/>
          </a:stretch>
        </p:blipFill>
        <p:spPr>
          <a:xfrm>
            <a:off x="7028690" y="1643991"/>
            <a:ext cx="4504182" cy="2745128"/>
          </a:xfrm>
          <a:prstGeom prst="rect">
            <a:avLst/>
          </a:prstGeom>
        </p:spPr>
      </p:pic>
      <p:pic>
        <p:nvPicPr>
          <p:cNvPr id="18" name="Picture 17">
            <a:extLst>
              <a:ext uri="{FF2B5EF4-FFF2-40B4-BE49-F238E27FC236}">
                <a16:creationId xmlns:a16="http://schemas.microsoft.com/office/drawing/2014/main" id="{60FD087E-9537-8F9D-CDE3-86E24E63F7B9}"/>
              </a:ext>
            </a:extLst>
          </p:cNvPr>
          <p:cNvPicPr>
            <a:picLocks noChangeAspect="1"/>
          </p:cNvPicPr>
          <p:nvPr/>
        </p:nvPicPr>
        <p:blipFill>
          <a:blip r:embed="rId5"/>
          <a:stretch>
            <a:fillRect/>
          </a:stretch>
        </p:blipFill>
        <p:spPr>
          <a:xfrm>
            <a:off x="567202" y="1643993"/>
            <a:ext cx="4663166" cy="2745128"/>
          </a:xfrm>
          <a:prstGeom prst="rect">
            <a:avLst/>
          </a:prstGeom>
        </p:spPr>
      </p:pic>
      <p:pic>
        <p:nvPicPr>
          <p:cNvPr id="20" name="Picture 19">
            <a:extLst>
              <a:ext uri="{FF2B5EF4-FFF2-40B4-BE49-F238E27FC236}">
                <a16:creationId xmlns:a16="http://schemas.microsoft.com/office/drawing/2014/main" id="{93CA3E54-2528-4E96-216C-50C2D028CE65}"/>
              </a:ext>
            </a:extLst>
          </p:cNvPr>
          <p:cNvPicPr>
            <a:picLocks noChangeAspect="1"/>
          </p:cNvPicPr>
          <p:nvPr/>
        </p:nvPicPr>
        <p:blipFill>
          <a:blip r:embed="rId6"/>
          <a:stretch>
            <a:fillRect/>
          </a:stretch>
        </p:blipFill>
        <p:spPr>
          <a:xfrm>
            <a:off x="4389120" y="4681728"/>
            <a:ext cx="3145536" cy="1842409"/>
          </a:xfrm>
          <a:prstGeom prst="rect">
            <a:avLst/>
          </a:prstGeom>
        </p:spPr>
      </p:pic>
      <p:sp>
        <p:nvSpPr>
          <p:cNvPr id="22" name="TextBox 21">
            <a:extLst>
              <a:ext uri="{FF2B5EF4-FFF2-40B4-BE49-F238E27FC236}">
                <a16:creationId xmlns:a16="http://schemas.microsoft.com/office/drawing/2014/main" id="{F84D64CA-518A-B9B8-207E-0E126BFA6BA8}"/>
              </a:ext>
            </a:extLst>
          </p:cNvPr>
          <p:cNvSpPr txBox="1"/>
          <p:nvPr/>
        </p:nvSpPr>
        <p:spPr>
          <a:xfrm>
            <a:off x="2135124" y="1219759"/>
            <a:ext cx="1924812" cy="369332"/>
          </a:xfrm>
          <a:prstGeom prst="rect">
            <a:avLst/>
          </a:prstGeom>
          <a:noFill/>
        </p:spPr>
        <p:txBody>
          <a:bodyPr wrap="square">
            <a:spAutoFit/>
          </a:bodyPr>
          <a:lstStyle/>
          <a:p>
            <a:r>
              <a:rPr lang="en-US" sz="1800" dirty="0">
                <a:solidFill>
                  <a:schemeClr val="bg1"/>
                </a:solidFill>
              </a:rPr>
              <a:t>pre-crisis</a:t>
            </a:r>
            <a:endParaRPr lang="en-IN" dirty="0"/>
          </a:p>
        </p:txBody>
      </p:sp>
      <p:sp>
        <p:nvSpPr>
          <p:cNvPr id="24" name="TextBox 23">
            <a:extLst>
              <a:ext uri="{FF2B5EF4-FFF2-40B4-BE49-F238E27FC236}">
                <a16:creationId xmlns:a16="http://schemas.microsoft.com/office/drawing/2014/main" id="{291B3F48-DEFC-6674-61D2-43226702F683}"/>
              </a:ext>
            </a:extLst>
          </p:cNvPr>
          <p:cNvSpPr txBox="1"/>
          <p:nvPr/>
        </p:nvSpPr>
        <p:spPr>
          <a:xfrm>
            <a:off x="8919972" y="1219759"/>
            <a:ext cx="1906524" cy="369332"/>
          </a:xfrm>
          <a:prstGeom prst="rect">
            <a:avLst/>
          </a:prstGeom>
          <a:noFill/>
        </p:spPr>
        <p:txBody>
          <a:bodyPr wrap="square">
            <a:spAutoFit/>
          </a:bodyPr>
          <a:lstStyle/>
          <a:p>
            <a:r>
              <a:rPr lang="en-US" sz="1800" dirty="0">
                <a:solidFill>
                  <a:schemeClr val="bg1"/>
                </a:solidFill>
              </a:rPr>
              <a:t>crisis</a:t>
            </a:r>
            <a:endParaRPr lang="en-IN" dirty="0"/>
          </a:p>
        </p:txBody>
      </p:sp>
    </p:spTree>
    <p:extLst>
      <p:ext uri="{BB962C8B-B14F-4D97-AF65-F5344CB8AC3E}">
        <p14:creationId xmlns:p14="http://schemas.microsoft.com/office/powerpoint/2010/main" val="3599908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9F76CB5-EA48-485F-42C6-AAE0A10429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DB5D991-94CE-3789-3C5A-5BA9C6A9A206}"/>
              </a:ext>
            </a:extLst>
          </p:cNvPr>
          <p:cNvSpPr txBox="1"/>
          <p:nvPr/>
        </p:nvSpPr>
        <p:spPr>
          <a:xfrm>
            <a:off x="451866" y="333863"/>
            <a:ext cx="8631174" cy="1200329"/>
          </a:xfrm>
          <a:prstGeom prst="rect">
            <a:avLst/>
          </a:prstGeom>
          <a:noFill/>
        </p:spPr>
        <p:txBody>
          <a:bodyPr wrap="square">
            <a:spAutoFit/>
          </a:bodyPr>
          <a:lstStyle/>
          <a:p>
            <a:r>
              <a:rPr lang="en-US" sz="2400" dirty="0">
                <a:solidFill>
                  <a:schemeClr val="bg1"/>
                </a:solidFill>
              </a:rPr>
              <a:t>2. Which top 5 city groups experienced the highest percentage decline in orders during the crisis period compared to the pre-crisis period? </a:t>
            </a:r>
          </a:p>
        </p:txBody>
      </p:sp>
      <p:pic>
        <p:nvPicPr>
          <p:cNvPr id="3" name="Picture 2">
            <a:extLst>
              <a:ext uri="{FF2B5EF4-FFF2-40B4-BE49-F238E27FC236}">
                <a16:creationId xmlns:a16="http://schemas.microsoft.com/office/drawing/2014/main" id="{0CF42B54-B301-DA21-B0AF-16832F069DB4}"/>
              </a:ext>
            </a:extLst>
          </p:cNvPr>
          <p:cNvPicPr>
            <a:picLocks noChangeAspect="1"/>
          </p:cNvPicPr>
          <p:nvPr/>
        </p:nvPicPr>
        <p:blipFill>
          <a:blip r:embed="rId4"/>
          <a:stretch>
            <a:fillRect/>
          </a:stretch>
        </p:blipFill>
        <p:spPr>
          <a:xfrm>
            <a:off x="2743200" y="1677748"/>
            <a:ext cx="4919472" cy="3040556"/>
          </a:xfrm>
          <a:prstGeom prst="rect">
            <a:avLst/>
          </a:prstGeom>
        </p:spPr>
      </p:pic>
    </p:spTree>
    <p:extLst>
      <p:ext uri="{BB962C8B-B14F-4D97-AF65-F5344CB8AC3E}">
        <p14:creationId xmlns:p14="http://schemas.microsoft.com/office/powerpoint/2010/main" val="1157614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403D365-D810-2488-93EA-FABD8F793B9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5C432F-23FE-705D-A139-BFD63281CDD4}"/>
              </a:ext>
            </a:extLst>
          </p:cNvPr>
          <p:cNvSpPr txBox="1"/>
          <p:nvPr/>
        </p:nvSpPr>
        <p:spPr>
          <a:xfrm>
            <a:off x="451866" y="333863"/>
            <a:ext cx="8631174" cy="1200329"/>
          </a:xfrm>
          <a:prstGeom prst="rect">
            <a:avLst/>
          </a:prstGeom>
          <a:noFill/>
        </p:spPr>
        <p:txBody>
          <a:bodyPr wrap="square">
            <a:spAutoFit/>
          </a:bodyPr>
          <a:lstStyle/>
          <a:p>
            <a:r>
              <a:rPr lang="en-US" sz="2400" dirty="0">
                <a:solidFill>
                  <a:schemeClr val="bg1"/>
                </a:solidFill>
              </a:rPr>
              <a:t>3. Among restaurants with at least 50 pre-crisis orders, which top 10 high-volume restaurants experienced the largest percentage decline in order counts during the crisis period? </a:t>
            </a:r>
          </a:p>
        </p:txBody>
      </p:sp>
      <p:pic>
        <p:nvPicPr>
          <p:cNvPr id="5" name="Picture 4">
            <a:extLst>
              <a:ext uri="{FF2B5EF4-FFF2-40B4-BE49-F238E27FC236}">
                <a16:creationId xmlns:a16="http://schemas.microsoft.com/office/drawing/2014/main" id="{C4196AB9-EE4D-C201-84FC-04965B438263}"/>
              </a:ext>
            </a:extLst>
          </p:cNvPr>
          <p:cNvPicPr>
            <a:picLocks noChangeAspect="1"/>
          </p:cNvPicPr>
          <p:nvPr/>
        </p:nvPicPr>
        <p:blipFill>
          <a:blip r:embed="rId4"/>
          <a:stretch>
            <a:fillRect/>
          </a:stretch>
        </p:blipFill>
        <p:spPr>
          <a:xfrm>
            <a:off x="2054383" y="1991393"/>
            <a:ext cx="5919185" cy="3988784"/>
          </a:xfrm>
          <a:prstGeom prst="rect">
            <a:avLst/>
          </a:prstGeom>
        </p:spPr>
      </p:pic>
    </p:spTree>
    <p:extLst>
      <p:ext uri="{BB962C8B-B14F-4D97-AF65-F5344CB8AC3E}">
        <p14:creationId xmlns:p14="http://schemas.microsoft.com/office/powerpoint/2010/main" val="3660016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A1BFD3F-5BEE-7857-ADEA-5781805F7B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F1A4C7-D262-FB3B-B3EC-D055338F3814}"/>
              </a:ext>
            </a:extLst>
          </p:cNvPr>
          <p:cNvSpPr txBox="1"/>
          <p:nvPr/>
        </p:nvSpPr>
        <p:spPr>
          <a:xfrm>
            <a:off x="451866" y="333863"/>
            <a:ext cx="10486164" cy="830997"/>
          </a:xfrm>
          <a:prstGeom prst="rect">
            <a:avLst/>
          </a:prstGeom>
          <a:noFill/>
        </p:spPr>
        <p:txBody>
          <a:bodyPr wrap="square">
            <a:spAutoFit/>
          </a:bodyPr>
          <a:lstStyle/>
          <a:p>
            <a:r>
              <a:rPr lang="en-US" sz="2400" dirty="0">
                <a:solidFill>
                  <a:schemeClr val="bg1"/>
                </a:solidFill>
              </a:rPr>
              <a:t>4. Cancellation Analysis: What is the cancellation rate trend pre-crisis vs crisis, and which cities are most affected?</a:t>
            </a:r>
          </a:p>
        </p:txBody>
      </p:sp>
      <p:pic>
        <p:nvPicPr>
          <p:cNvPr id="3" name="Picture 2">
            <a:extLst>
              <a:ext uri="{FF2B5EF4-FFF2-40B4-BE49-F238E27FC236}">
                <a16:creationId xmlns:a16="http://schemas.microsoft.com/office/drawing/2014/main" id="{2462712E-BEA9-D9BB-1ECB-9E92706A7B40}"/>
              </a:ext>
            </a:extLst>
          </p:cNvPr>
          <p:cNvPicPr>
            <a:picLocks noChangeAspect="1"/>
          </p:cNvPicPr>
          <p:nvPr/>
        </p:nvPicPr>
        <p:blipFill>
          <a:blip r:embed="rId4"/>
          <a:stretch>
            <a:fillRect/>
          </a:stretch>
        </p:blipFill>
        <p:spPr>
          <a:xfrm>
            <a:off x="818694" y="1431832"/>
            <a:ext cx="4173930" cy="2481800"/>
          </a:xfrm>
          <a:prstGeom prst="rect">
            <a:avLst/>
          </a:prstGeom>
        </p:spPr>
      </p:pic>
      <p:pic>
        <p:nvPicPr>
          <p:cNvPr id="7" name="Picture 6">
            <a:extLst>
              <a:ext uri="{FF2B5EF4-FFF2-40B4-BE49-F238E27FC236}">
                <a16:creationId xmlns:a16="http://schemas.microsoft.com/office/drawing/2014/main" id="{EC5C4DE5-935C-BDCF-F0CC-D5AED8804080}"/>
              </a:ext>
            </a:extLst>
          </p:cNvPr>
          <p:cNvPicPr>
            <a:picLocks noChangeAspect="1"/>
          </p:cNvPicPr>
          <p:nvPr/>
        </p:nvPicPr>
        <p:blipFill>
          <a:blip r:embed="rId5"/>
          <a:stretch>
            <a:fillRect/>
          </a:stretch>
        </p:blipFill>
        <p:spPr>
          <a:xfrm>
            <a:off x="6898866" y="1431832"/>
            <a:ext cx="4039164" cy="2481800"/>
          </a:xfrm>
          <a:prstGeom prst="rect">
            <a:avLst/>
          </a:prstGeom>
        </p:spPr>
      </p:pic>
      <p:pic>
        <p:nvPicPr>
          <p:cNvPr id="9" name="Picture 8">
            <a:extLst>
              <a:ext uri="{FF2B5EF4-FFF2-40B4-BE49-F238E27FC236}">
                <a16:creationId xmlns:a16="http://schemas.microsoft.com/office/drawing/2014/main" id="{3D6E7782-12EF-2621-FF13-41B5BBC9B052}"/>
              </a:ext>
            </a:extLst>
          </p:cNvPr>
          <p:cNvPicPr>
            <a:picLocks noChangeAspect="1"/>
          </p:cNvPicPr>
          <p:nvPr/>
        </p:nvPicPr>
        <p:blipFill>
          <a:blip r:embed="rId6"/>
          <a:stretch>
            <a:fillRect/>
          </a:stretch>
        </p:blipFill>
        <p:spPr>
          <a:xfrm>
            <a:off x="3818681" y="4180604"/>
            <a:ext cx="3896269" cy="2481800"/>
          </a:xfrm>
          <a:prstGeom prst="rect">
            <a:avLst/>
          </a:prstGeom>
        </p:spPr>
      </p:pic>
      <p:sp>
        <p:nvSpPr>
          <p:cNvPr id="11" name="TextBox 10">
            <a:extLst>
              <a:ext uri="{FF2B5EF4-FFF2-40B4-BE49-F238E27FC236}">
                <a16:creationId xmlns:a16="http://schemas.microsoft.com/office/drawing/2014/main" id="{B0E63BE3-2F0C-57EA-98F3-31439B6DD376}"/>
              </a:ext>
            </a:extLst>
          </p:cNvPr>
          <p:cNvSpPr txBox="1"/>
          <p:nvPr/>
        </p:nvSpPr>
        <p:spPr>
          <a:xfrm>
            <a:off x="2144127" y="1021475"/>
            <a:ext cx="1674554" cy="369332"/>
          </a:xfrm>
          <a:prstGeom prst="rect">
            <a:avLst/>
          </a:prstGeom>
          <a:noFill/>
        </p:spPr>
        <p:txBody>
          <a:bodyPr wrap="square">
            <a:spAutoFit/>
          </a:bodyPr>
          <a:lstStyle/>
          <a:p>
            <a:r>
              <a:rPr lang="en-US" sz="1800" dirty="0">
                <a:solidFill>
                  <a:schemeClr val="bg1"/>
                </a:solidFill>
              </a:rPr>
              <a:t>pre-crisis</a:t>
            </a:r>
            <a:endParaRPr lang="en-IN" dirty="0"/>
          </a:p>
        </p:txBody>
      </p:sp>
      <p:sp>
        <p:nvSpPr>
          <p:cNvPr id="13" name="TextBox 12">
            <a:extLst>
              <a:ext uri="{FF2B5EF4-FFF2-40B4-BE49-F238E27FC236}">
                <a16:creationId xmlns:a16="http://schemas.microsoft.com/office/drawing/2014/main" id="{47C6512A-D55B-FC41-461E-32C2E40F7806}"/>
              </a:ext>
            </a:extLst>
          </p:cNvPr>
          <p:cNvSpPr txBox="1"/>
          <p:nvPr/>
        </p:nvSpPr>
        <p:spPr>
          <a:xfrm>
            <a:off x="8718804" y="1021475"/>
            <a:ext cx="769157" cy="369332"/>
          </a:xfrm>
          <a:prstGeom prst="rect">
            <a:avLst/>
          </a:prstGeom>
          <a:noFill/>
        </p:spPr>
        <p:txBody>
          <a:bodyPr wrap="square">
            <a:spAutoFit/>
          </a:bodyPr>
          <a:lstStyle/>
          <a:p>
            <a:r>
              <a:rPr lang="en-US" sz="1800" dirty="0">
                <a:solidFill>
                  <a:schemeClr val="bg1"/>
                </a:solidFill>
              </a:rPr>
              <a:t>crisis</a:t>
            </a:r>
            <a:endParaRPr lang="en-IN" dirty="0"/>
          </a:p>
        </p:txBody>
      </p:sp>
    </p:spTree>
    <p:extLst>
      <p:ext uri="{BB962C8B-B14F-4D97-AF65-F5344CB8AC3E}">
        <p14:creationId xmlns:p14="http://schemas.microsoft.com/office/powerpoint/2010/main" val="1031784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136FC0D-8CC9-4860-A551-2C742E0547E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9D9FF31-FFFB-4363-71A6-470AFE414FFC}"/>
              </a:ext>
            </a:extLst>
          </p:cNvPr>
          <p:cNvSpPr txBox="1"/>
          <p:nvPr/>
        </p:nvSpPr>
        <p:spPr>
          <a:xfrm>
            <a:off x="451866" y="333863"/>
            <a:ext cx="8631174" cy="830997"/>
          </a:xfrm>
          <a:prstGeom prst="rect">
            <a:avLst/>
          </a:prstGeom>
          <a:noFill/>
        </p:spPr>
        <p:txBody>
          <a:bodyPr wrap="square">
            <a:spAutoFit/>
          </a:bodyPr>
          <a:lstStyle/>
          <a:p>
            <a:r>
              <a:rPr lang="en-US" sz="2400" dirty="0">
                <a:solidFill>
                  <a:schemeClr val="bg1"/>
                </a:solidFill>
              </a:rPr>
              <a:t>5. Delivery SLA: Measure average delivery time across phases. Did SLA compliance worsen significantly in the crisis period? </a:t>
            </a:r>
          </a:p>
        </p:txBody>
      </p:sp>
      <p:pic>
        <p:nvPicPr>
          <p:cNvPr id="8" name="Picture 7">
            <a:extLst>
              <a:ext uri="{FF2B5EF4-FFF2-40B4-BE49-F238E27FC236}">
                <a16:creationId xmlns:a16="http://schemas.microsoft.com/office/drawing/2014/main" id="{93093B6C-9288-9BD7-2508-A6779DCBA0C2}"/>
              </a:ext>
            </a:extLst>
          </p:cNvPr>
          <p:cNvPicPr>
            <a:picLocks noChangeAspect="1"/>
          </p:cNvPicPr>
          <p:nvPr/>
        </p:nvPicPr>
        <p:blipFill>
          <a:blip r:embed="rId4"/>
          <a:stretch>
            <a:fillRect/>
          </a:stretch>
        </p:blipFill>
        <p:spPr>
          <a:xfrm>
            <a:off x="1402078" y="1395686"/>
            <a:ext cx="3017519" cy="1658410"/>
          </a:xfrm>
          <a:prstGeom prst="rect">
            <a:avLst/>
          </a:prstGeom>
        </p:spPr>
      </p:pic>
      <p:pic>
        <p:nvPicPr>
          <p:cNvPr id="11" name="Picture 10">
            <a:extLst>
              <a:ext uri="{FF2B5EF4-FFF2-40B4-BE49-F238E27FC236}">
                <a16:creationId xmlns:a16="http://schemas.microsoft.com/office/drawing/2014/main" id="{8B23838A-AC49-14C3-3B1E-26B2A9CDF39F}"/>
              </a:ext>
            </a:extLst>
          </p:cNvPr>
          <p:cNvPicPr>
            <a:picLocks noChangeAspect="1"/>
          </p:cNvPicPr>
          <p:nvPr/>
        </p:nvPicPr>
        <p:blipFill>
          <a:blip r:embed="rId5"/>
          <a:stretch>
            <a:fillRect/>
          </a:stretch>
        </p:blipFill>
        <p:spPr>
          <a:xfrm>
            <a:off x="6784848" y="1395686"/>
            <a:ext cx="3017519" cy="1658410"/>
          </a:xfrm>
          <a:prstGeom prst="rect">
            <a:avLst/>
          </a:prstGeom>
        </p:spPr>
      </p:pic>
      <p:pic>
        <p:nvPicPr>
          <p:cNvPr id="13" name="Picture 12">
            <a:extLst>
              <a:ext uri="{FF2B5EF4-FFF2-40B4-BE49-F238E27FC236}">
                <a16:creationId xmlns:a16="http://schemas.microsoft.com/office/drawing/2014/main" id="{CDB402E0-8C59-DAD5-A019-981F6079AA68}"/>
              </a:ext>
            </a:extLst>
          </p:cNvPr>
          <p:cNvPicPr>
            <a:picLocks noChangeAspect="1"/>
          </p:cNvPicPr>
          <p:nvPr/>
        </p:nvPicPr>
        <p:blipFill>
          <a:blip r:embed="rId6"/>
          <a:stretch>
            <a:fillRect/>
          </a:stretch>
        </p:blipFill>
        <p:spPr>
          <a:xfrm>
            <a:off x="3920827" y="4181978"/>
            <a:ext cx="3362794" cy="2057687"/>
          </a:xfrm>
          <a:prstGeom prst="rect">
            <a:avLst/>
          </a:prstGeom>
        </p:spPr>
      </p:pic>
      <p:sp>
        <p:nvSpPr>
          <p:cNvPr id="15" name="TextBox 14">
            <a:extLst>
              <a:ext uri="{FF2B5EF4-FFF2-40B4-BE49-F238E27FC236}">
                <a16:creationId xmlns:a16="http://schemas.microsoft.com/office/drawing/2014/main" id="{FA170ABD-067D-65E9-005A-A11760C3995B}"/>
              </a:ext>
            </a:extLst>
          </p:cNvPr>
          <p:cNvSpPr txBox="1"/>
          <p:nvPr/>
        </p:nvSpPr>
        <p:spPr>
          <a:xfrm>
            <a:off x="4344140" y="3603850"/>
            <a:ext cx="2516168" cy="400110"/>
          </a:xfrm>
          <a:prstGeom prst="rect">
            <a:avLst/>
          </a:prstGeom>
          <a:noFill/>
        </p:spPr>
        <p:txBody>
          <a:bodyPr wrap="square">
            <a:spAutoFit/>
          </a:bodyPr>
          <a:lstStyle/>
          <a:p>
            <a:r>
              <a:rPr lang="en-US" b="1" dirty="0">
                <a:solidFill>
                  <a:schemeClr val="bg1"/>
                </a:solidFill>
              </a:rPr>
              <a:t>Crisis </a:t>
            </a:r>
            <a:r>
              <a:rPr lang="en-US" sz="2000" b="1" dirty="0">
                <a:solidFill>
                  <a:schemeClr val="bg1"/>
                </a:solidFill>
              </a:rPr>
              <a:t>Period SLA %</a:t>
            </a:r>
            <a:endParaRPr lang="en-IN" sz="2000" b="1" dirty="0">
              <a:solidFill>
                <a:schemeClr val="bg1"/>
              </a:solidFill>
            </a:endParaRPr>
          </a:p>
        </p:txBody>
      </p:sp>
    </p:spTree>
    <p:extLst>
      <p:ext uri="{BB962C8B-B14F-4D97-AF65-F5344CB8AC3E}">
        <p14:creationId xmlns:p14="http://schemas.microsoft.com/office/powerpoint/2010/main" val="151682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69197B1-A0B6-ABCE-A192-3A390AE14FB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8D5DF8-DC03-243F-01F7-AF4E905871BC}"/>
              </a:ext>
            </a:extLst>
          </p:cNvPr>
          <p:cNvSpPr txBox="1"/>
          <p:nvPr/>
        </p:nvSpPr>
        <p:spPr>
          <a:xfrm>
            <a:off x="451866" y="333863"/>
            <a:ext cx="8631174" cy="830997"/>
          </a:xfrm>
          <a:prstGeom prst="rect">
            <a:avLst/>
          </a:prstGeom>
          <a:noFill/>
        </p:spPr>
        <p:txBody>
          <a:bodyPr wrap="square">
            <a:spAutoFit/>
          </a:bodyPr>
          <a:lstStyle/>
          <a:p>
            <a:r>
              <a:rPr lang="en-US" sz="2400" dirty="0">
                <a:solidFill>
                  <a:schemeClr val="bg1"/>
                </a:solidFill>
              </a:rPr>
              <a:t>6. Ratings Fluctuation: Track average customer rating month-by-month. Which months saw the sharpest drop? </a:t>
            </a:r>
          </a:p>
        </p:txBody>
      </p:sp>
      <p:pic>
        <p:nvPicPr>
          <p:cNvPr id="3" name="Picture 2">
            <a:extLst>
              <a:ext uri="{FF2B5EF4-FFF2-40B4-BE49-F238E27FC236}">
                <a16:creationId xmlns:a16="http://schemas.microsoft.com/office/drawing/2014/main" id="{25DCB851-3625-5202-9541-76EA794D78C9}"/>
              </a:ext>
            </a:extLst>
          </p:cNvPr>
          <p:cNvPicPr>
            <a:picLocks noChangeAspect="1"/>
          </p:cNvPicPr>
          <p:nvPr/>
        </p:nvPicPr>
        <p:blipFill>
          <a:blip r:embed="rId4"/>
          <a:stretch>
            <a:fillRect/>
          </a:stretch>
        </p:blipFill>
        <p:spPr>
          <a:xfrm>
            <a:off x="1092708" y="3539586"/>
            <a:ext cx="6437605" cy="2754415"/>
          </a:xfrm>
          <a:prstGeom prst="rect">
            <a:avLst/>
          </a:prstGeom>
        </p:spPr>
      </p:pic>
      <p:pic>
        <p:nvPicPr>
          <p:cNvPr id="6" name="Picture 5">
            <a:extLst>
              <a:ext uri="{FF2B5EF4-FFF2-40B4-BE49-F238E27FC236}">
                <a16:creationId xmlns:a16="http://schemas.microsoft.com/office/drawing/2014/main" id="{8451FF2C-A8C2-1AF3-1025-2F9EA982055A}"/>
              </a:ext>
            </a:extLst>
          </p:cNvPr>
          <p:cNvPicPr>
            <a:picLocks noChangeAspect="1"/>
          </p:cNvPicPr>
          <p:nvPr/>
        </p:nvPicPr>
        <p:blipFill>
          <a:blip r:embed="rId5"/>
          <a:stretch>
            <a:fillRect/>
          </a:stretch>
        </p:blipFill>
        <p:spPr>
          <a:xfrm>
            <a:off x="4023359" y="1484705"/>
            <a:ext cx="3035808" cy="1500828"/>
          </a:xfrm>
          <a:prstGeom prst="rect">
            <a:avLst/>
          </a:prstGeom>
        </p:spPr>
      </p:pic>
      <p:sp>
        <p:nvSpPr>
          <p:cNvPr id="9" name="TextBox 8">
            <a:extLst>
              <a:ext uri="{FF2B5EF4-FFF2-40B4-BE49-F238E27FC236}">
                <a16:creationId xmlns:a16="http://schemas.microsoft.com/office/drawing/2014/main" id="{B72CA752-19EC-9D3C-0875-308E35D1C186}"/>
              </a:ext>
            </a:extLst>
          </p:cNvPr>
          <p:cNvSpPr txBox="1"/>
          <p:nvPr/>
        </p:nvSpPr>
        <p:spPr>
          <a:xfrm>
            <a:off x="1092708" y="2949082"/>
            <a:ext cx="2217420" cy="369332"/>
          </a:xfrm>
          <a:prstGeom prst="rect">
            <a:avLst/>
          </a:prstGeom>
          <a:noFill/>
        </p:spPr>
        <p:txBody>
          <a:bodyPr wrap="square">
            <a:spAutoFit/>
          </a:bodyPr>
          <a:lstStyle/>
          <a:p>
            <a:r>
              <a:rPr lang="en-US" dirty="0">
                <a:solidFill>
                  <a:schemeClr val="bg1"/>
                </a:solidFill>
              </a:rPr>
              <a:t>Monthly avg rating</a:t>
            </a:r>
          </a:p>
        </p:txBody>
      </p:sp>
    </p:spTree>
    <p:extLst>
      <p:ext uri="{BB962C8B-B14F-4D97-AF65-F5344CB8AC3E}">
        <p14:creationId xmlns:p14="http://schemas.microsoft.com/office/powerpoint/2010/main" val="3951999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FACF011-D592-9FD5-7C3F-7A0876BAFC8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A4D3101-52D3-10BF-D194-6064E5158E6E}"/>
              </a:ext>
            </a:extLst>
          </p:cNvPr>
          <p:cNvSpPr txBox="1"/>
          <p:nvPr/>
        </p:nvSpPr>
        <p:spPr>
          <a:xfrm>
            <a:off x="451866" y="333863"/>
            <a:ext cx="8631174" cy="1200329"/>
          </a:xfrm>
          <a:prstGeom prst="rect">
            <a:avLst/>
          </a:prstGeom>
          <a:noFill/>
        </p:spPr>
        <p:txBody>
          <a:bodyPr wrap="square">
            <a:spAutoFit/>
          </a:bodyPr>
          <a:lstStyle/>
          <a:p>
            <a:r>
              <a:rPr lang="en-US" sz="2400" dirty="0">
                <a:solidFill>
                  <a:schemeClr val="bg1"/>
                </a:solidFill>
              </a:rPr>
              <a:t>7. Sentiment Insights: During the crisis period, identify the most frequently occurring negative keywords in customer review texts. (Hint: Use a Word Cloud visual in Power BI to visualize the findings.) </a:t>
            </a:r>
          </a:p>
        </p:txBody>
      </p:sp>
      <p:pic>
        <p:nvPicPr>
          <p:cNvPr id="5" name="Picture 4">
            <a:extLst>
              <a:ext uri="{FF2B5EF4-FFF2-40B4-BE49-F238E27FC236}">
                <a16:creationId xmlns:a16="http://schemas.microsoft.com/office/drawing/2014/main" id="{267CCA62-8B23-BC90-8BA1-564D6DD54683}"/>
              </a:ext>
            </a:extLst>
          </p:cNvPr>
          <p:cNvPicPr>
            <a:picLocks noChangeAspect="1"/>
          </p:cNvPicPr>
          <p:nvPr/>
        </p:nvPicPr>
        <p:blipFill>
          <a:blip r:embed="rId4"/>
          <a:stretch>
            <a:fillRect/>
          </a:stretch>
        </p:blipFill>
        <p:spPr>
          <a:xfrm>
            <a:off x="3079929" y="2047682"/>
            <a:ext cx="4729047" cy="3255838"/>
          </a:xfrm>
          <a:prstGeom prst="rect">
            <a:avLst/>
          </a:prstGeom>
        </p:spPr>
      </p:pic>
    </p:spTree>
    <p:extLst>
      <p:ext uri="{BB962C8B-B14F-4D97-AF65-F5344CB8AC3E}">
        <p14:creationId xmlns:p14="http://schemas.microsoft.com/office/powerpoint/2010/main" val="2337939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73F1429-51C8-5951-335C-C36569A12FE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DFF8278-EAE9-0A28-E1B0-0521FC711C59}"/>
              </a:ext>
            </a:extLst>
          </p:cNvPr>
          <p:cNvSpPr txBox="1"/>
          <p:nvPr/>
        </p:nvSpPr>
        <p:spPr>
          <a:xfrm>
            <a:off x="451866" y="333863"/>
            <a:ext cx="8631174" cy="830997"/>
          </a:xfrm>
          <a:prstGeom prst="rect">
            <a:avLst/>
          </a:prstGeom>
          <a:noFill/>
        </p:spPr>
        <p:txBody>
          <a:bodyPr wrap="square">
            <a:spAutoFit/>
          </a:bodyPr>
          <a:lstStyle/>
          <a:p>
            <a:r>
              <a:rPr lang="en-US" sz="2400" dirty="0">
                <a:solidFill>
                  <a:schemeClr val="bg1"/>
                </a:solidFill>
              </a:rPr>
              <a:t>8. Revenue Impact: Estimate revenue loss from pre-crisis vs crisis (based on subtotal, discount, and delivery fee). </a:t>
            </a:r>
          </a:p>
        </p:txBody>
      </p:sp>
      <p:pic>
        <p:nvPicPr>
          <p:cNvPr id="3" name="Picture 2">
            <a:extLst>
              <a:ext uri="{FF2B5EF4-FFF2-40B4-BE49-F238E27FC236}">
                <a16:creationId xmlns:a16="http://schemas.microsoft.com/office/drawing/2014/main" id="{0740A349-B812-2BC1-DA65-BB1A27807C10}"/>
              </a:ext>
            </a:extLst>
          </p:cNvPr>
          <p:cNvPicPr>
            <a:picLocks noChangeAspect="1"/>
          </p:cNvPicPr>
          <p:nvPr/>
        </p:nvPicPr>
        <p:blipFill>
          <a:blip r:embed="rId4"/>
          <a:stretch>
            <a:fillRect/>
          </a:stretch>
        </p:blipFill>
        <p:spPr>
          <a:xfrm>
            <a:off x="1133856" y="1914632"/>
            <a:ext cx="4169663" cy="2675656"/>
          </a:xfrm>
          <a:prstGeom prst="rect">
            <a:avLst/>
          </a:prstGeom>
        </p:spPr>
      </p:pic>
      <p:pic>
        <p:nvPicPr>
          <p:cNvPr id="7" name="Picture 6">
            <a:extLst>
              <a:ext uri="{FF2B5EF4-FFF2-40B4-BE49-F238E27FC236}">
                <a16:creationId xmlns:a16="http://schemas.microsoft.com/office/drawing/2014/main" id="{EA649BFB-A9EC-A68F-4ED9-8FD3CC860ED4}"/>
              </a:ext>
            </a:extLst>
          </p:cNvPr>
          <p:cNvPicPr>
            <a:picLocks noChangeAspect="1"/>
          </p:cNvPicPr>
          <p:nvPr/>
        </p:nvPicPr>
        <p:blipFill>
          <a:blip r:embed="rId5"/>
          <a:stretch>
            <a:fillRect/>
          </a:stretch>
        </p:blipFill>
        <p:spPr>
          <a:xfrm>
            <a:off x="6483743" y="2234672"/>
            <a:ext cx="3702673" cy="1999000"/>
          </a:xfrm>
          <a:prstGeom prst="rect">
            <a:avLst/>
          </a:prstGeom>
        </p:spPr>
      </p:pic>
    </p:spTree>
    <p:extLst>
      <p:ext uri="{BB962C8B-B14F-4D97-AF65-F5344CB8AC3E}">
        <p14:creationId xmlns:p14="http://schemas.microsoft.com/office/powerpoint/2010/main" val="1012179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102F155-31DA-23D0-97FC-D2CB15546E8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05A4459-3385-C86A-47AF-288F2B263994}"/>
              </a:ext>
            </a:extLst>
          </p:cNvPr>
          <p:cNvSpPr txBox="1"/>
          <p:nvPr/>
        </p:nvSpPr>
        <p:spPr>
          <a:xfrm>
            <a:off x="451866" y="333863"/>
            <a:ext cx="10411206" cy="1200329"/>
          </a:xfrm>
          <a:prstGeom prst="rect">
            <a:avLst/>
          </a:prstGeom>
          <a:noFill/>
        </p:spPr>
        <p:txBody>
          <a:bodyPr wrap="square">
            <a:spAutoFit/>
          </a:bodyPr>
          <a:lstStyle/>
          <a:p>
            <a:r>
              <a:rPr lang="en-US" sz="2400" dirty="0">
                <a:solidFill>
                  <a:schemeClr val="bg1"/>
                </a:solidFill>
              </a:rPr>
              <a:t>9. Loyalty Impact: Among customers who placed five or more orders before the crisis, determine how many stopped ordering during the crisis, and out of those, how many had an average rating above 4.5? </a:t>
            </a:r>
          </a:p>
        </p:txBody>
      </p:sp>
      <p:pic>
        <p:nvPicPr>
          <p:cNvPr id="5" name="Picture 4">
            <a:extLst>
              <a:ext uri="{FF2B5EF4-FFF2-40B4-BE49-F238E27FC236}">
                <a16:creationId xmlns:a16="http://schemas.microsoft.com/office/drawing/2014/main" id="{9DA9A72E-8052-60EC-9B1A-BDFC83705CF4}"/>
              </a:ext>
            </a:extLst>
          </p:cNvPr>
          <p:cNvPicPr>
            <a:picLocks noChangeAspect="1"/>
          </p:cNvPicPr>
          <p:nvPr/>
        </p:nvPicPr>
        <p:blipFill>
          <a:blip r:embed="rId4"/>
          <a:stretch>
            <a:fillRect/>
          </a:stretch>
        </p:blipFill>
        <p:spPr>
          <a:xfrm>
            <a:off x="3819745" y="2069331"/>
            <a:ext cx="3675448" cy="1789437"/>
          </a:xfrm>
          <a:prstGeom prst="rect">
            <a:avLst/>
          </a:prstGeom>
        </p:spPr>
      </p:pic>
    </p:spTree>
    <p:extLst>
      <p:ext uri="{BB962C8B-B14F-4D97-AF65-F5344CB8AC3E}">
        <p14:creationId xmlns:p14="http://schemas.microsoft.com/office/powerpoint/2010/main" val="2377188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899BE13-AA28-2184-E3C1-092F2C6EE7C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B67028-A8EE-BB68-8331-9C624E147EEE}"/>
              </a:ext>
            </a:extLst>
          </p:cNvPr>
          <p:cNvSpPr txBox="1"/>
          <p:nvPr/>
        </p:nvSpPr>
        <p:spPr>
          <a:xfrm>
            <a:off x="451866" y="333863"/>
            <a:ext cx="10411206" cy="1569660"/>
          </a:xfrm>
          <a:prstGeom prst="rect">
            <a:avLst/>
          </a:prstGeom>
          <a:noFill/>
        </p:spPr>
        <p:txBody>
          <a:bodyPr wrap="square">
            <a:spAutoFit/>
          </a:bodyPr>
          <a:lstStyle/>
          <a:p>
            <a:r>
              <a:rPr lang="en-US" sz="2400" dirty="0">
                <a:solidFill>
                  <a:schemeClr val="bg1"/>
                </a:solidFill>
              </a:rPr>
              <a:t>10. Customer Lifetime Decline: Which high-value customers (top 5% by total spend before the crisis) showed the largest drop in order frequency and ratings during the crisis? What common patterns (e.g., location, cuisine preference, delivery delays) do they share? </a:t>
            </a:r>
          </a:p>
        </p:txBody>
      </p:sp>
      <p:pic>
        <p:nvPicPr>
          <p:cNvPr id="3" name="Picture 2">
            <a:extLst>
              <a:ext uri="{FF2B5EF4-FFF2-40B4-BE49-F238E27FC236}">
                <a16:creationId xmlns:a16="http://schemas.microsoft.com/office/drawing/2014/main" id="{AB2CD8F1-21EE-88CD-1163-88ECCDCC84C8}"/>
              </a:ext>
            </a:extLst>
          </p:cNvPr>
          <p:cNvPicPr>
            <a:picLocks noChangeAspect="1"/>
          </p:cNvPicPr>
          <p:nvPr/>
        </p:nvPicPr>
        <p:blipFill>
          <a:blip r:embed="rId4"/>
          <a:stretch>
            <a:fillRect/>
          </a:stretch>
        </p:blipFill>
        <p:spPr>
          <a:xfrm>
            <a:off x="3803904" y="2549338"/>
            <a:ext cx="3273552" cy="1759324"/>
          </a:xfrm>
          <a:prstGeom prst="rect">
            <a:avLst/>
          </a:prstGeom>
        </p:spPr>
      </p:pic>
    </p:spTree>
    <p:extLst>
      <p:ext uri="{BB962C8B-B14F-4D97-AF65-F5344CB8AC3E}">
        <p14:creationId xmlns:p14="http://schemas.microsoft.com/office/powerpoint/2010/main" val="1694803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AA2A204-5B8C-D5C6-9DA4-3AA18B29FE1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4CC021A-B726-ED95-00D8-1492289C7ED9}"/>
              </a:ext>
            </a:extLst>
          </p:cNvPr>
          <p:cNvSpPr txBox="1"/>
          <p:nvPr/>
        </p:nvSpPr>
        <p:spPr>
          <a:xfrm>
            <a:off x="4237101" y="3044279"/>
            <a:ext cx="3717798" cy="769441"/>
          </a:xfrm>
          <a:prstGeom prst="rect">
            <a:avLst/>
          </a:prstGeom>
          <a:noFill/>
        </p:spPr>
        <p:txBody>
          <a:bodyPr wrap="square">
            <a:spAutoFit/>
          </a:bodyPr>
          <a:lstStyle/>
          <a:p>
            <a:r>
              <a:rPr lang="en-US" sz="4400" b="1" dirty="0">
                <a:solidFill>
                  <a:schemeClr val="bg1"/>
                </a:solidFill>
              </a:rPr>
              <a:t>THANK  YOU</a:t>
            </a:r>
          </a:p>
        </p:txBody>
      </p:sp>
    </p:spTree>
    <p:extLst>
      <p:ext uri="{BB962C8B-B14F-4D97-AF65-F5344CB8AC3E}">
        <p14:creationId xmlns:p14="http://schemas.microsoft.com/office/powerpoint/2010/main" val="6866396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6836</TotalTime>
  <Words>1695</Words>
  <Application>Microsoft Office PowerPoint</Application>
  <PresentationFormat>Widescreen</PresentationFormat>
  <Paragraphs>159</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Manrope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navya kolli</dc:creator>
  <cp:lastModifiedBy>poojitha k</cp:lastModifiedBy>
  <cp:revision>5</cp:revision>
  <dcterms:created xsi:type="dcterms:W3CDTF">2025-11-17T16:11:11Z</dcterms:created>
  <dcterms:modified xsi:type="dcterms:W3CDTF">2025-11-23T08:03:05Z</dcterms:modified>
</cp:coreProperties>
</file>